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9"/>
  </p:notesMasterIdLst>
  <p:handoutMasterIdLst>
    <p:handoutMasterId r:id="rId19"/>
  </p:handoutMasterIdLst>
  <p:sldIdLst>
    <p:sldId id="409" r:id="rId4"/>
    <p:sldId id="410" r:id="rId5"/>
    <p:sldId id="439" r:id="rId6"/>
    <p:sldId id="440" r:id="rId7"/>
    <p:sldId id="436" r:id="rId8"/>
    <p:sldId id="448" r:id="rId10"/>
    <p:sldId id="437" r:id="rId11"/>
    <p:sldId id="441" r:id="rId12"/>
    <p:sldId id="443" r:id="rId13"/>
    <p:sldId id="444" r:id="rId14"/>
    <p:sldId id="445" r:id="rId15"/>
    <p:sldId id="446" r:id="rId16"/>
    <p:sldId id="447" r:id="rId17"/>
    <p:sldId id="43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C367"/>
    <a:srgbClr val="E4D178"/>
    <a:srgbClr val="DEC569"/>
    <a:srgbClr val="E0C78E"/>
    <a:srgbClr val="D8C76C"/>
    <a:srgbClr val="E4D09C"/>
    <a:srgbClr val="DDBF7E"/>
    <a:srgbClr val="FA90A7"/>
    <a:srgbClr val="DC8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208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宋体" panose="02020400000000000000" charset="-122"/>
              </a:rPr>
            </a:fld>
            <a:endParaRPr lang="zh-CN" altLang="en-US">
              <a:cs typeface="思源宋体" panose="020204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工作内容概述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业绩数据展示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工作经验总结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6985" y="314325"/>
            <a:ext cx="12219940" cy="622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形"/>
          <p:cNvSpPr/>
          <p:nvPr userDrawn="1"/>
        </p:nvSpPr>
        <p:spPr>
          <a:xfrm>
            <a:off x="574675" y="503555"/>
            <a:ext cx="501650" cy="501650"/>
          </a:xfrm>
          <a:prstGeom prst="ellipse">
            <a:avLst/>
          </a:prstGeom>
          <a:gradFill>
            <a:gsLst>
              <a:gs pos="20000">
                <a:srgbClr val="E4D178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7" name="图形"/>
          <p:cNvSpPr txBox="1"/>
          <p:nvPr userDrawn="1"/>
        </p:nvSpPr>
        <p:spPr>
          <a:xfrm>
            <a:off x="575945" y="516890"/>
            <a:ext cx="3239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未来工作计划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0" y="6487139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www.ypppt.com/xiazai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advTm="2000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advTm="2000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.xml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图形"/>
          <p:cNvSpPr txBox="1"/>
          <p:nvPr/>
        </p:nvSpPr>
        <p:spPr>
          <a:xfrm>
            <a:off x="583565" y="2339340"/>
            <a:ext cx="109855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DiffRSDI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：条件扩散结构和频率</a:t>
            </a:r>
            <a:r>
              <a:rPr kumimoji="0" lang="zh-CN" altLang="en-US" sz="440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lt"/>
              </a:rPr>
              <a:t>知识</a:t>
            </a:r>
            <a:endParaRPr kumimoji="0" lang="zh-CN" altLang="en-US" sz="440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6615" y="886460"/>
            <a:ext cx="1499870" cy="387985"/>
            <a:chOff x="1349" y="1396"/>
            <a:chExt cx="2362" cy="611"/>
          </a:xfrm>
        </p:grpSpPr>
        <p:sp>
          <p:nvSpPr>
            <p:cNvPr id="46" name="图形"/>
            <p:cNvSpPr/>
            <p:nvPr/>
          </p:nvSpPr>
          <p:spPr>
            <a:xfrm>
              <a:off x="1349" y="1396"/>
              <a:ext cx="562" cy="562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图形"/>
            <p:cNvSpPr txBox="1"/>
            <p:nvPr/>
          </p:nvSpPr>
          <p:spPr>
            <a:xfrm>
              <a:off x="1410" y="1427"/>
              <a:ext cx="2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>
                <a:cs typeface="+mn-ea"/>
                <a:sym typeface="+mn-lt"/>
              </a:endParaRPr>
            </a:p>
          </p:txBody>
        </p:sp>
      </p:grpSp>
      <p:sp>
        <p:nvSpPr>
          <p:cNvPr id="59" name="图形"/>
          <p:cNvSpPr/>
          <p:nvPr/>
        </p:nvSpPr>
        <p:spPr>
          <a:xfrm>
            <a:off x="9670415" y="969645"/>
            <a:ext cx="1233805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 w="635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论文汇报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7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070860" y="5678170"/>
            <a:ext cx="3023870" cy="306705"/>
            <a:chOff x="1402" y="8942"/>
            <a:chExt cx="4762" cy="483"/>
          </a:xfrm>
        </p:grpSpPr>
        <p:sp>
          <p:nvSpPr>
            <p:cNvPr id="48" name="图形"/>
            <p:cNvSpPr txBox="1"/>
            <p:nvPr/>
          </p:nvSpPr>
          <p:spPr>
            <a:xfrm>
              <a:off x="1752" y="8942"/>
              <a:ext cx="44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汇报时间：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2026.1.30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图形"/>
            <p:cNvSpPr/>
            <p:nvPr/>
          </p:nvSpPr>
          <p:spPr>
            <a:xfrm>
              <a:off x="1402" y="9042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40855" y="5668010"/>
            <a:ext cx="1607820" cy="306705"/>
            <a:chOff x="14360" y="8926"/>
            <a:chExt cx="2532" cy="483"/>
          </a:xfrm>
        </p:grpSpPr>
        <p:sp>
          <p:nvSpPr>
            <p:cNvPr id="49" name="图形"/>
            <p:cNvSpPr txBox="1"/>
            <p:nvPr/>
          </p:nvSpPr>
          <p:spPr>
            <a:xfrm>
              <a:off x="14644" y="8926"/>
              <a:ext cx="22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汇报人：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廖诗雨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图形"/>
            <p:cNvSpPr/>
            <p:nvPr/>
          </p:nvSpPr>
          <p:spPr>
            <a:xfrm>
              <a:off x="14360" y="9038"/>
              <a:ext cx="284" cy="284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95350" y="4106545"/>
            <a:ext cx="9958070" cy="398780"/>
            <a:chOff x="1410" y="5207"/>
            <a:chExt cx="15682" cy="628"/>
          </a:xfrm>
        </p:grpSpPr>
        <p:sp>
          <p:nvSpPr>
            <p:cNvPr id="11" name="图形"/>
            <p:cNvSpPr/>
            <p:nvPr/>
          </p:nvSpPr>
          <p:spPr>
            <a:xfrm>
              <a:off x="6214" y="5245"/>
              <a:ext cx="6688" cy="55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 w="63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70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592" y="5207"/>
              <a:ext cx="9713" cy="628"/>
              <a:chOff x="4524" y="5128"/>
              <a:chExt cx="9713" cy="628"/>
            </a:xfrm>
          </p:grpSpPr>
          <p:sp>
            <p:nvSpPr>
              <p:cNvPr id="41" name="图形"/>
              <p:cNvSpPr txBox="1"/>
              <p:nvPr/>
            </p:nvSpPr>
            <p:spPr>
              <a:xfrm>
                <a:off x="6405" y="5128"/>
                <a:ext cx="6122" cy="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论文</a:t>
                </a:r>
                <a:r>
                  <a:rPr kumimoji="0" lang="zh-CN" altLang="en-US" sz="200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学习汇报</a:t>
                </a:r>
                <a:endParaRPr kumimoji="0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cxnSp>
            <p:nvCxnSpPr>
              <p:cNvPr id="42" name="图形"/>
              <p:cNvCxnSpPr/>
              <p:nvPr/>
            </p:nvCxnSpPr>
            <p:spPr>
              <a:xfrm flipH="1">
                <a:off x="4524" y="5499"/>
                <a:ext cx="1211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图形"/>
              <p:cNvCxnSpPr/>
              <p:nvPr/>
            </p:nvCxnSpPr>
            <p:spPr>
              <a:xfrm flipH="1">
                <a:off x="13125" y="5444"/>
                <a:ext cx="1112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图形"/>
            <p:cNvGrpSpPr/>
            <p:nvPr/>
          </p:nvGrpSpPr>
          <p:grpSpPr>
            <a:xfrm>
              <a:off x="16892" y="5267"/>
              <a:ext cx="201" cy="341"/>
              <a:chOff x="373626" y="2399071"/>
              <a:chExt cx="235974" cy="393290"/>
            </a:xfrm>
          </p:grpSpPr>
          <p:cxnSp>
            <p:nvCxnSpPr>
              <p:cNvPr id="56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图形"/>
            <p:cNvGrpSpPr/>
            <p:nvPr/>
          </p:nvGrpSpPr>
          <p:grpSpPr>
            <a:xfrm flipH="1">
              <a:off x="1410" y="5267"/>
              <a:ext cx="201" cy="341"/>
              <a:chOff x="373626" y="2399071"/>
              <a:chExt cx="235974" cy="393290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373626" y="2399071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 flipH="1">
                <a:off x="373626" y="2595716"/>
                <a:ext cx="235974" cy="196645"/>
              </a:xfrm>
              <a:prstGeom prst="line">
                <a:avLst/>
              </a:prstGeom>
              <a:ln w="190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405130"/>
            <a:ext cx="12207240" cy="60236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514350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研究背景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" y="1313180"/>
            <a:ext cx="4507230" cy="25304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806315" y="1236980"/>
            <a:ext cx="715010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Times New Roman" panose="02020603050405020304" charset="0"/>
              </a:rPr>
              <a:t>现有方法局限性：</a:t>
            </a:r>
            <a:endParaRPr lang="zh-CN" altLang="en-US" sz="2400" b="1">
              <a:latin typeface="Times New Roman" panose="02020603050405020304" charset="0"/>
            </a:endParaRPr>
          </a:p>
          <a:p>
            <a:endParaRPr lang="zh-CN" altLang="en-US" sz="2000">
              <a:latin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791075" y="1779905"/>
            <a:ext cx="715010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在缺陷与背景颜色、纹理相似的复杂场景中，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单模态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检测效果往往不理想。（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多模态）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现有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RGB-D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检测方法注重提升准确性，却普遍存在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参数数量多、计算复杂度高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的问题，难以部署在计算资源有限的移动设备上。（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轻量化）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无法实现实时、连续的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6370" y="4013200"/>
            <a:ext cx="715010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Times New Roman" panose="02020603050405020304" charset="0"/>
              </a:rPr>
              <a:t>思考和解决</a:t>
            </a:r>
            <a:r>
              <a:rPr lang="zh-CN" altLang="en-US" sz="2400" b="1">
                <a:latin typeface="Times New Roman" panose="02020603050405020304" charset="0"/>
              </a:rPr>
              <a:t>问题：</a:t>
            </a:r>
            <a:endParaRPr lang="zh-CN" altLang="en-US" sz="2400" b="1">
              <a:latin typeface="Times New Roman" panose="02020603050405020304" charset="0"/>
            </a:endParaRPr>
          </a:p>
          <a:p>
            <a:endParaRPr lang="zh-CN" altLang="en-US" sz="2000">
              <a:latin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395" y="4562475"/>
            <a:ext cx="10913745" cy="160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在缺陷与背景颜色、纹理相似的复杂场景中，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单模态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检测效果往往不理想。（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多模态）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现有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RGB-D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检测方法注重提升准确性，却普遍存在</a:t>
            </a:r>
            <a:r>
              <a:rPr lang="zh-CN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参数数量多、计算复杂度高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的问题，难以部署在计算资源有限的移动设备上。（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-&gt;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轻量化）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无法实现实时、连续的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检测。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37185"/>
            <a:ext cx="12207240" cy="5884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83870"/>
            <a:ext cx="11943080" cy="583565"/>
            <a:chOff x="1587" y="1461"/>
            <a:chExt cx="18808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1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论文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创新点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39815" y="1783715"/>
            <a:ext cx="5904865" cy="2298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以轻量级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MobileNetV2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作为主干网络，分别提取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RGB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和深度特征。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2.BEM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模块：边界提取模块，基于最大函数和最大池化提取边界纹理。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3.CEM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模块：跨模态探索模块，通过基本操作补充显著区域，避免复杂推理。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4.MIM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模块：多特征集成模块，使用简单操作优化代表性特征区域。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690" y="1209040"/>
            <a:ext cx="3670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FHENet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核心框架：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2421"/>
          <a:stretch>
            <a:fillRect/>
          </a:stretch>
        </p:blipFill>
        <p:spPr>
          <a:xfrm>
            <a:off x="55880" y="1966595"/>
            <a:ext cx="5937250" cy="2497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20040"/>
            <a:ext cx="12207240" cy="63792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433705"/>
            <a:ext cx="11971655" cy="521970"/>
            <a:chOff x="1587" y="1461"/>
            <a:chExt cx="18853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821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核心网络架构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" y="1078230"/>
            <a:ext cx="6166485" cy="456946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268085" y="956310"/>
            <a:ext cx="5775325" cy="349123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/>
          <a:srcRect l="66419" b="40779"/>
          <a:stretch>
            <a:fillRect/>
          </a:stretch>
        </p:blipFill>
        <p:spPr>
          <a:xfrm>
            <a:off x="7435215" y="4394200"/>
            <a:ext cx="3556635" cy="23044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12585" y="417830"/>
            <a:ext cx="2799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PVT</a:t>
            </a:r>
            <a:endParaRPr lang="en-US" altLang="zh-CN" sz="2800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125" y="5837555"/>
            <a:ext cx="3147060" cy="71945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36625" y="5944235"/>
            <a:ext cx="1641475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损失函数：</a:t>
            </a:r>
            <a:endParaRPr lang="zh-CN" altLang="en-US" sz="2400" b="1"/>
          </a:p>
        </p:txBody>
      </p:sp>
    </p:spTree>
    <p:custDataLst>
      <p:tags r:id="rId6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81305"/>
            <a:ext cx="12207240" cy="622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10845"/>
            <a:ext cx="8668385" cy="583565"/>
            <a:chOff x="1587" y="1461"/>
            <a:chExt cx="13651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301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核心模块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——CCE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（跨模态循环增强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模块）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78585"/>
            <a:ext cx="4381500" cy="45796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30" y="1431925"/>
            <a:ext cx="5126990" cy="22548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890" y="3761105"/>
            <a:ext cx="5667375" cy="8382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81305"/>
            <a:ext cx="12207240" cy="622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10845"/>
            <a:ext cx="8668385" cy="583565"/>
            <a:chOff x="1587" y="1461"/>
            <a:chExt cx="13651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1301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核心模块</a:t>
              </a:r>
              <a:r>
                <a:rPr lang="en-US" altLang="zh-CN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——FAF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（频率感知交替融合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模块）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32560"/>
            <a:ext cx="6186805" cy="34785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244600"/>
            <a:ext cx="5592445" cy="4295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378460"/>
            <a:ext cx="12207240" cy="61912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4616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模型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评估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49555" y="5530850"/>
            <a:ext cx="1168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使用了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个常用指标，与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14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种最先进的方法进行了比较，结果显示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FHENet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在几乎所有指标上都优于对比方法，同时具有更少的参数和更快的推理速度。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455" y="2042160"/>
            <a:ext cx="6136005" cy="28136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1174115"/>
            <a:ext cx="5648960" cy="4133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271780"/>
            <a:ext cx="12207240" cy="63519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600" y="3600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+mn-ea"/>
                  <a:sym typeface="+mn-lt"/>
                </a:rPr>
                <a:t>消融实验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+mn-ea"/>
                <a:sym typeface="+mn-lt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42570" y="5690235"/>
            <a:ext cx="11630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验证了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MIM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模块的有效性，结果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显示，移除任一模块都会导致性能下降。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65" y="2498725"/>
            <a:ext cx="3867150" cy="16287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4146"/>
          <a:stretch>
            <a:fillRect/>
          </a:stretch>
        </p:blipFill>
        <p:spPr>
          <a:xfrm>
            <a:off x="4869180" y="2630170"/>
            <a:ext cx="3533775" cy="14973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0" y="1708150"/>
            <a:ext cx="3267075" cy="32099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245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68935" y="1274445"/>
            <a:ext cx="7033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MobileNetV2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反向残差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线性瓶颈层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+ReLu6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791970"/>
            <a:ext cx="6224905" cy="2973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295" y="607060"/>
            <a:ext cx="5943600" cy="39573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" y="5193030"/>
            <a:ext cx="7094220" cy="1393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245" y="3705860"/>
            <a:ext cx="2899410" cy="25622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58216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1898650"/>
            <a:ext cx="6613525" cy="40589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25" y="2114550"/>
            <a:ext cx="5502275" cy="3665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7505" y="13315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BEM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模块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007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35305" y="13315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CEM</a:t>
            </a:r>
            <a:r>
              <a:rPr lang="zh-CN" altLang="en-US" sz="2400"/>
              <a:t>模块：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640" y="1350010"/>
            <a:ext cx="7726045" cy="51079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523875"/>
            <a:ext cx="12207240" cy="60598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652145"/>
            <a:ext cx="6339840" cy="583565"/>
            <a:chOff x="1587" y="1461"/>
            <a:chExt cx="9984" cy="919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代码</a:t>
              </a:r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部分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33705" y="1268095"/>
            <a:ext cx="2544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MIM</a:t>
            </a:r>
            <a:r>
              <a:rPr lang="zh-CN" altLang="en-US" sz="2400"/>
              <a:t>模块：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165" y="1281430"/>
            <a:ext cx="7499350" cy="52444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605" y="113665"/>
            <a:ext cx="12207240" cy="64700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1600" y="194945"/>
            <a:ext cx="6339840" cy="521970"/>
            <a:chOff x="1587" y="1461"/>
            <a:chExt cx="9984" cy="822"/>
          </a:xfrm>
        </p:grpSpPr>
        <p:sp>
          <p:nvSpPr>
            <p:cNvPr id="22" name="图形"/>
            <p:cNvSpPr/>
            <p:nvPr/>
          </p:nvSpPr>
          <p:spPr>
            <a:xfrm>
              <a:off x="1587" y="1592"/>
              <a:ext cx="640" cy="640"/>
            </a:xfrm>
            <a:prstGeom prst="ellipse">
              <a:avLst/>
            </a:prstGeom>
            <a:gradFill>
              <a:gsLst>
                <a:gs pos="0">
                  <a:srgbClr val="E4D178"/>
                </a:gs>
                <a:gs pos="100000">
                  <a:srgbClr val="DDC367"/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图形"/>
            <p:cNvSpPr txBox="1"/>
            <p:nvPr/>
          </p:nvSpPr>
          <p:spPr>
            <a:xfrm>
              <a:off x="2225" y="1461"/>
              <a:ext cx="93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代码部分</a:t>
              </a:r>
              <a:r>
                <a:rPr lang="en-US" altLang="zh-CN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——Mirror_model</a:t>
              </a: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Times New Roman" panose="02020603050405020304" charset="0"/>
                  <a:cs typeface="Times New Roman" panose="02020603050405020304" charset="0"/>
                  <a:sym typeface="+mn-lt"/>
                </a:rPr>
                <a:t>类</a:t>
              </a:r>
              <a:endPara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lt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215" y="755015"/>
            <a:ext cx="5840095" cy="5969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09930"/>
            <a:ext cx="3200400" cy="60534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2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"/>
          <p:cNvPicPr>
            <a:picLocks noChangeAspect="1"/>
          </p:cNvPicPr>
          <p:nvPr/>
        </p:nvPicPr>
        <p:blipFill>
          <a:blip r:embed="rId1" cstate="screen"/>
          <a:srcRect t="2331" b="2331"/>
          <a:stretch>
            <a:fillRect/>
          </a:stretch>
        </p:blipFill>
        <p:spPr>
          <a:xfrm flipV="1">
            <a:off x="-14605" y="0"/>
            <a:ext cx="12226925" cy="685927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>
          <a:xfrm>
            <a:off x="-6985" y="3810"/>
            <a:ext cx="12205970" cy="6855460"/>
          </a:xfrm>
          <a:prstGeom prst="rect">
            <a:avLst/>
          </a:prstGeom>
          <a:gradFill>
            <a:gsLst>
              <a:gs pos="64000">
                <a:schemeClr val="bg1">
                  <a:alpha val="78000"/>
                </a:schemeClr>
              </a:gs>
              <a:gs pos="100000">
                <a:schemeClr val="bg1">
                  <a:alpha val="1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1414145" y="2498090"/>
            <a:ext cx="9370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  <a:uLnTx/>
                <a:uFillTx/>
                <a:cs typeface="+mn-ea"/>
                <a:sym typeface="+mn-lt"/>
              </a:rPr>
              <a:t>谢谢您的聆听</a:t>
            </a:r>
            <a:endParaRPr kumimoji="0" lang="zh-CN" altLang="en-US" sz="88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bg1">
                    <a:alpha val="40000"/>
                  </a:schemeClr>
                </a:glow>
              </a:effectLst>
              <a:uLnTx/>
              <a:uFillTx/>
              <a:cs typeface="+mn-ea"/>
              <a:sym typeface="+mn-lt"/>
            </a:endParaRPr>
          </a:p>
        </p:txBody>
      </p:sp>
      <p:sp>
        <p:nvSpPr>
          <p:cNvPr id="12" name="图形"/>
          <p:cNvSpPr/>
          <p:nvPr/>
        </p:nvSpPr>
        <p:spPr>
          <a:xfrm>
            <a:off x="2376170" y="3796030"/>
            <a:ext cx="7446645" cy="657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Add your text content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.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图形"/>
          <p:cNvSpPr/>
          <p:nvPr/>
        </p:nvSpPr>
        <p:spPr>
          <a:xfrm>
            <a:off x="856615" y="886460"/>
            <a:ext cx="356870" cy="356870"/>
          </a:xfrm>
          <a:prstGeom prst="ellipse">
            <a:avLst/>
          </a:prstGeom>
          <a:gradFill>
            <a:gsLst>
              <a:gs pos="0">
                <a:srgbClr val="E4D178"/>
              </a:gs>
              <a:gs pos="100000">
                <a:srgbClr val="DDC367"/>
              </a:gs>
            </a:gsLst>
            <a:lin ang="2700000" scaled="0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自定义 441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DDC367"/>
      </a:accent1>
      <a:accent2>
        <a:srgbClr val="3F3F3F"/>
      </a:accent2>
      <a:accent3>
        <a:srgbClr val="DDC367"/>
      </a:accent3>
      <a:accent4>
        <a:srgbClr val="3F3F3F"/>
      </a:accent4>
      <a:accent5>
        <a:srgbClr val="DDC367"/>
      </a:accent5>
      <a:accent6>
        <a:srgbClr val="3F3F3F"/>
      </a:accent6>
      <a:hlink>
        <a:srgbClr val="DDC367"/>
      </a:hlink>
      <a:folHlink>
        <a:srgbClr val="3F3F3F"/>
      </a:folHlink>
    </a:clrScheme>
    <a:fontScheme name="iolprds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演示</Application>
  <PresentationFormat>宽屏</PresentationFormat>
  <Paragraphs>77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Wingdings</vt:lpstr>
      <vt:lpstr>字魂58号-创中黑</vt:lpstr>
      <vt:lpstr>黑体</vt:lpstr>
      <vt:lpstr>思源宋体</vt:lpstr>
      <vt:lpstr>Times New Roman</vt:lpstr>
      <vt:lpstr>Arial Unicode MS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廖诗雨</cp:lastModifiedBy>
  <cp:revision>270</cp:revision>
  <dcterms:created xsi:type="dcterms:W3CDTF">2019-06-19T02:08:00Z</dcterms:created>
  <dcterms:modified xsi:type="dcterms:W3CDTF">2026-02-04T17:47:30Z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