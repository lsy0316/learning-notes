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17"/>
  </p:notesMasterIdLst>
  <p:handoutMasterIdLst>
    <p:handoutMasterId r:id="rId18"/>
  </p:handoutMasterIdLst>
  <p:sldIdLst>
    <p:sldId id="409" r:id="rId4"/>
    <p:sldId id="410" r:id="rId5"/>
    <p:sldId id="439" r:id="rId6"/>
    <p:sldId id="440" r:id="rId7"/>
    <p:sldId id="436" r:id="rId8"/>
    <p:sldId id="437" r:id="rId9"/>
    <p:sldId id="441" r:id="rId10"/>
    <p:sldId id="443" r:id="rId11"/>
    <p:sldId id="444" r:id="rId12"/>
    <p:sldId id="445" r:id="rId13"/>
    <p:sldId id="446" r:id="rId14"/>
    <p:sldId id="447" r:id="rId15"/>
    <p:sldId id="43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DC367"/>
    <a:srgbClr val="E4D178"/>
    <a:srgbClr val="DEC569"/>
    <a:srgbClr val="E0C78E"/>
    <a:srgbClr val="D8C76C"/>
    <a:srgbClr val="E4D09C"/>
    <a:srgbClr val="DDBF7E"/>
    <a:srgbClr val="FA90A7"/>
    <a:srgbClr val="DC8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6314" autoAdjust="0"/>
  </p:normalViewPr>
  <p:slideViewPr>
    <p:cSldViewPr snapToGrid="0" showGuides="1">
      <p:cViewPr varScale="1">
        <p:scale>
          <a:sx n="108" d="100"/>
          <a:sy n="108" d="100"/>
        </p:scale>
        <p:origin x="780" y="114"/>
      </p:cViewPr>
      <p:guideLst>
        <p:guide orient="horz" pos="2208"/>
        <p:guide pos="383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思源宋体" panose="02020400000000000000" charset="-122"/>
              </a:rPr>
            </a:fld>
            <a:endParaRPr lang="zh-CN" altLang="en-US">
              <a:cs typeface="思源宋体" panose="0202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思源宋体" panose="02020400000000000000" charset="-122"/>
              </a:rPr>
            </a:fld>
            <a:endParaRPr lang="zh-CN" altLang="en-US">
              <a:cs typeface="思源宋体" panose="0202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2000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工作内容概述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业绩数据展示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工作经验总结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未来工作计划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152400" y="6487139"/>
            <a:ext cx="1224136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www.ypppt.com/xiazai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advTm="2000">
    <p:wedge/>
  </p:transition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.xml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.xml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3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图形"/>
          <p:cNvSpPr txBox="1"/>
          <p:nvPr/>
        </p:nvSpPr>
        <p:spPr>
          <a:xfrm>
            <a:off x="583565" y="2339340"/>
            <a:ext cx="109855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lt"/>
              </a:rPr>
              <a:t>FHENet</a:t>
            </a:r>
            <a:r>
              <a:rPr kumimoji="0" lang="zh-CN" altLang="en-US" sz="440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lt"/>
              </a:rPr>
              <a:t>：用于</a:t>
            </a:r>
            <a:r>
              <a:rPr kumimoji="0" lang="en-US" altLang="zh-CN" sz="440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lt"/>
              </a:rPr>
              <a:t>RGB-D</a:t>
            </a:r>
            <a:r>
              <a:rPr kumimoji="0" lang="zh-CN" altLang="en-US" sz="440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lt"/>
              </a:rPr>
              <a:t>图像中实时轨道表面缺陷检测的轻量级特征分层探索网络</a:t>
            </a:r>
            <a:endParaRPr kumimoji="0" lang="zh-CN" altLang="en-US" sz="4400" i="0" u="none" strike="noStrike" kern="120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139700">
                  <a:schemeClr val="bg1">
                    <a:alpha val="40000"/>
                  </a:schemeClr>
                </a:glow>
              </a:effectLst>
              <a:uLnTx/>
              <a:uFillTx/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56615" y="886460"/>
            <a:ext cx="1499870" cy="387985"/>
            <a:chOff x="1349" y="1396"/>
            <a:chExt cx="2362" cy="611"/>
          </a:xfrm>
        </p:grpSpPr>
        <p:sp>
          <p:nvSpPr>
            <p:cNvPr id="46" name="图形"/>
            <p:cNvSpPr/>
            <p:nvPr/>
          </p:nvSpPr>
          <p:spPr>
            <a:xfrm>
              <a:off x="1349" y="1396"/>
              <a:ext cx="562" cy="562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图形"/>
            <p:cNvSpPr txBox="1"/>
            <p:nvPr/>
          </p:nvSpPr>
          <p:spPr>
            <a:xfrm>
              <a:off x="1410" y="1427"/>
              <a:ext cx="23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>
                <a:cs typeface="+mn-ea"/>
                <a:sym typeface="+mn-lt"/>
              </a:endParaRPr>
            </a:p>
          </p:txBody>
        </p:sp>
      </p:grpSp>
      <p:sp>
        <p:nvSpPr>
          <p:cNvPr id="59" name="图形"/>
          <p:cNvSpPr/>
          <p:nvPr/>
        </p:nvSpPr>
        <p:spPr>
          <a:xfrm>
            <a:off x="9670415" y="969645"/>
            <a:ext cx="1233805" cy="304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4D178"/>
              </a:gs>
              <a:gs pos="100000">
                <a:srgbClr val="DDC367"/>
              </a:gs>
            </a:gsLst>
            <a:lin ang="2700000" scaled="0"/>
          </a:gradFill>
          <a:ln w="63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论文汇报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7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0860" y="5678170"/>
            <a:ext cx="3023870" cy="306705"/>
            <a:chOff x="1402" y="8942"/>
            <a:chExt cx="4762" cy="483"/>
          </a:xfrm>
        </p:grpSpPr>
        <p:sp>
          <p:nvSpPr>
            <p:cNvPr id="48" name="图形"/>
            <p:cNvSpPr txBox="1"/>
            <p:nvPr/>
          </p:nvSpPr>
          <p:spPr>
            <a:xfrm>
              <a:off x="1752" y="8942"/>
              <a:ext cx="441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汇报时间：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2026.1.30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图形"/>
            <p:cNvSpPr/>
            <p:nvPr/>
          </p:nvSpPr>
          <p:spPr>
            <a:xfrm>
              <a:off x="1402" y="9042"/>
              <a:ext cx="284" cy="284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840855" y="5668010"/>
            <a:ext cx="1607820" cy="306705"/>
            <a:chOff x="14360" y="8926"/>
            <a:chExt cx="2532" cy="483"/>
          </a:xfrm>
        </p:grpSpPr>
        <p:sp>
          <p:nvSpPr>
            <p:cNvPr id="49" name="图形"/>
            <p:cNvSpPr txBox="1"/>
            <p:nvPr/>
          </p:nvSpPr>
          <p:spPr>
            <a:xfrm>
              <a:off x="14644" y="8926"/>
              <a:ext cx="224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汇报人：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廖诗雨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图形"/>
            <p:cNvSpPr/>
            <p:nvPr/>
          </p:nvSpPr>
          <p:spPr>
            <a:xfrm>
              <a:off x="14360" y="9038"/>
              <a:ext cx="284" cy="284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95350" y="4106545"/>
            <a:ext cx="9958070" cy="398780"/>
            <a:chOff x="1410" y="5207"/>
            <a:chExt cx="15682" cy="628"/>
          </a:xfrm>
        </p:grpSpPr>
        <p:sp>
          <p:nvSpPr>
            <p:cNvPr id="11" name="图形"/>
            <p:cNvSpPr/>
            <p:nvPr/>
          </p:nvSpPr>
          <p:spPr>
            <a:xfrm>
              <a:off x="6214" y="5245"/>
              <a:ext cx="6688" cy="55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 w="6350" cap="flat" cmpd="sng" algn="ctr">
              <a:noFill/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592" y="5207"/>
              <a:ext cx="9713" cy="628"/>
              <a:chOff x="4524" y="5128"/>
              <a:chExt cx="9713" cy="628"/>
            </a:xfrm>
          </p:grpSpPr>
          <p:sp>
            <p:nvSpPr>
              <p:cNvPr id="41" name="图形"/>
              <p:cNvSpPr txBox="1"/>
              <p:nvPr/>
            </p:nvSpPr>
            <p:spPr>
              <a:xfrm>
                <a:off x="6405" y="5128"/>
                <a:ext cx="6122" cy="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dist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论文</a:t>
                </a:r>
                <a:r>
                  <a:rPr kumimoji="0" lang="zh-CN" altLang="en-US" sz="200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学习汇报</a:t>
                </a:r>
                <a:endParaRPr kumimoji="0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cxnSp>
            <p:nvCxnSpPr>
              <p:cNvPr id="42" name="图形"/>
              <p:cNvCxnSpPr/>
              <p:nvPr/>
            </p:nvCxnSpPr>
            <p:spPr>
              <a:xfrm flipH="1">
                <a:off x="4524" y="5499"/>
                <a:ext cx="1211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图形"/>
              <p:cNvCxnSpPr/>
              <p:nvPr/>
            </p:nvCxnSpPr>
            <p:spPr>
              <a:xfrm flipH="1">
                <a:off x="13125" y="5444"/>
                <a:ext cx="1112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图形"/>
            <p:cNvGrpSpPr/>
            <p:nvPr/>
          </p:nvGrpSpPr>
          <p:grpSpPr>
            <a:xfrm>
              <a:off x="16892" y="5267"/>
              <a:ext cx="201" cy="341"/>
              <a:chOff x="373626" y="2399071"/>
              <a:chExt cx="235974" cy="393290"/>
            </a:xfrm>
          </p:grpSpPr>
          <p:cxnSp>
            <p:nvCxnSpPr>
              <p:cNvPr id="56" name="图形"/>
              <p:cNvCxnSpPr/>
              <p:nvPr/>
            </p:nvCxnSpPr>
            <p:spPr>
              <a:xfrm>
                <a:off x="373626" y="2399071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图形"/>
              <p:cNvCxnSpPr/>
              <p:nvPr/>
            </p:nvCxnSpPr>
            <p:spPr>
              <a:xfrm flipH="1">
                <a:off x="373626" y="2595716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图形"/>
            <p:cNvGrpSpPr/>
            <p:nvPr/>
          </p:nvGrpSpPr>
          <p:grpSpPr>
            <a:xfrm flipH="1">
              <a:off x="1410" y="5267"/>
              <a:ext cx="201" cy="341"/>
              <a:chOff x="373626" y="2399071"/>
              <a:chExt cx="235974" cy="393290"/>
            </a:xfrm>
          </p:grpSpPr>
          <p:cxnSp>
            <p:nvCxnSpPr>
              <p:cNvPr id="13" name="图形"/>
              <p:cNvCxnSpPr/>
              <p:nvPr/>
            </p:nvCxnSpPr>
            <p:spPr>
              <a:xfrm>
                <a:off x="373626" y="2399071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图形"/>
              <p:cNvCxnSpPr/>
              <p:nvPr/>
            </p:nvCxnSpPr>
            <p:spPr>
              <a:xfrm flipH="1">
                <a:off x="373626" y="2595716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2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405130"/>
            <a:ext cx="12207240" cy="60236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514350"/>
            <a:ext cx="6339840" cy="583565"/>
            <a:chOff x="1587" y="1461"/>
            <a:chExt cx="9984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研究背景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4836795" y="1339215"/>
            <a:ext cx="6659880" cy="2530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fontAlgn="auto"/>
            <a:r>
              <a:rPr lang="zh-CN" altLang="en-US" sz="2000">
                <a:latin typeface="Times New Roman" panose="02020603050405020304" charset="0"/>
              </a:rPr>
              <a:t>随着高铁负载与速度的逐步提升，铁路基础设施面临的运营压力不断增大，铁轨表面易出现孔洞、裂纹等缺陷。这些缺陷若未能及时检测，可能引发严重的安全事故，同时造成巨大经济损失。</a:t>
            </a:r>
            <a:endParaRPr lang="zh-CN" altLang="en-US" sz="2000">
              <a:latin typeface="Times New Roman" panose="02020603050405020304" charset="0"/>
            </a:endParaRPr>
          </a:p>
          <a:p>
            <a:pPr indent="457200" fontAlgn="auto"/>
            <a:r>
              <a:rPr lang="zh-CN" altLang="en-US" sz="2000">
                <a:latin typeface="Times New Roman" panose="02020603050405020304" charset="0"/>
              </a:rPr>
              <a:t>在铁轨缺陷检测领域，传统方式高度依赖经验丰富的检测人员，不仅消耗大量人力资源，还存在检测周期长、主观性强的问题。近年来，深度学习驱动的自动化检测方法得到广泛研究。</a:t>
            </a:r>
            <a:endParaRPr lang="zh-CN" altLang="en-US" sz="2000">
              <a:latin typeface="Times New Roman" panose="0202060305040502030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" y="1313180"/>
            <a:ext cx="4507230" cy="253047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249555" y="3942080"/>
            <a:ext cx="11691620" cy="527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Times New Roman" panose="02020603050405020304" charset="0"/>
              </a:rPr>
              <a:t>现有方法局限性：</a:t>
            </a:r>
            <a:endParaRPr lang="zh-CN" altLang="en-US" sz="2400" b="1">
              <a:latin typeface="Times New Roman" panose="02020603050405020304" charset="0"/>
            </a:endParaRPr>
          </a:p>
          <a:p>
            <a:endParaRPr lang="zh-CN" altLang="en-US" sz="2000">
              <a:latin typeface="Times New Roman" panose="02020603050405020304" charset="0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72415" y="4455795"/>
            <a:ext cx="10920730" cy="2014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在缺陷与背景颜色、纹理相似的复杂场景中，</a:t>
            </a:r>
            <a:r>
              <a:rPr lang="zh-CN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单模态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RGB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检测效果往往不理想。（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-&gt;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多模态）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现有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RGB-D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检测方法注重提升准确性，却普遍存在</a:t>
            </a:r>
            <a:r>
              <a:rPr lang="zh-CN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参数数量多、计算复杂度高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的问题，难以部署在计算资源有限的移动设备上。（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-&gt;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轻量化）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无法实现实时、连续的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检测。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647700"/>
            <a:ext cx="12207240" cy="5574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788670"/>
            <a:ext cx="11943080" cy="583565"/>
            <a:chOff x="1587" y="1461"/>
            <a:chExt cx="18808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1817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论文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创新点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+mn-ea"/>
                <a:sym typeface="+mn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603250" y="4137025"/>
            <a:ext cx="11276330" cy="2298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600">
                <a:latin typeface="Times New Roman" panose="02020603050405020304" charset="0"/>
                <a:cs typeface="Times New Roman" panose="02020603050405020304" charset="0"/>
              </a:rPr>
              <a:t>1.</a:t>
            </a:r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以轻量级</a:t>
            </a:r>
            <a:r>
              <a:rPr lang="en-US" altLang="zh-CN" sz="2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MobileNetV2</a:t>
            </a:r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作为主干网络，分别提取</a:t>
            </a:r>
            <a:r>
              <a:rPr lang="en-US" altLang="zh-CN" sz="2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RGB</a:t>
            </a:r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和深度特征。</a:t>
            </a:r>
            <a:endParaRPr lang="zh-CN" altLang="en-US" sz="2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2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2.BEM</a:t>
            </a:r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模块：边界提取模块，基于最大函数和最大池化提取边界纹理。</a:t>
            </a:r>
            <a:endParaRPr lang="zh-CN" altLang="en-US" sz="2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2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3.CEM</a:t>
            </a:r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模块：跨模态探索模块，通过基本操作补充显著区域，避免复杂推理。</a:t>
            </a:r>
            <a:endParaRPr lang="zh-CN" altLang="en-US" sz="2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2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4.MIM</a:t>
            </a:r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模块：多特征集成模块，使用简单操作优化代表性特征区域。</a:t>
            </a:r>
            <a:endParaRPr lang="zh-CN" altLang="en-US" sz="2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3710" y="1586865"/>
            <a:ext cx="4692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NEU RSDDS-AUG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数据集：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1810" y="3488055"/>
            <a:ext cx="36709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FHENet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核心框架：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510" y="2110105"/>
            <a:ext cx="1114488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/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</a:rPr>
              <a:t>面向铁轨表面缺陷检测任务的增强型</a:t>
            </a:r>
            <a:r>
              <a:rPr lang="en-US" altLang="zh-CN" sz="2600">
                <a:latin typeface="Times New Roman" panose="02020603050405020304" charset="0"/>
                <a:cs typeface="Times New Roman" panose="02020603050405020304" charset="0"/>
              </a:rPr>
              <a:t>RGB-D</a:t>
            </a:r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</a:rPr>
              <a:t>数据集，包含</a:t>
            </a:r>
            <a:r>
              <a:rPr lang="en-US" altLang="zh-CN" sz="2600">
                <a:latin typeface="Times New Roman" panose="02020603050405020304" charset="0"/>
                <a:cs typeface="Times New Roman" panose="02020603050405020304" charset="0"/>
              </a:rPr>
              <a:t>1500</a:t>
            </a:r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</a:rPr>
              <a:t>对</a:t>
            </a:r>
            <a:r>
              <a:rPr lang="en-US" altLang="zh-CN" sz="2600">
                <a:latin typeface="Times New Roman" panose="02020603050405020304" charset="0"/>
                <a:cs typeface="Times New Roman" panose="02020603050405020304" charset="0"/>
              </a:rPr>
              <a:t>RGB-D</a:t>
            </a:r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</a:rPr>
              <a:t>训练图像与</a:t>
            </a:r>
            <a:r>
              <a:rPr lang="en-US" altLang="zh-CN" sz="2600">
                <a:latin typeface="Times New Roman" panose="02020603050405020304" charset="0"/>
                <a:cs typeface="Times New Roman" panose="02020603050405020304" charset="0"/>
              </a:rPr>
              <a:t>362</a:t>
            </a:r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</a:rPr>
              <a:t>对</a:t>
            </a:r>
            <a:r>
              <a:rPr lang="en-US" altLang="zh-CN" sz="2600">
                <a:latin typeface="Times New Roman" panose="02020603050405020304" charset="0"/>
                <a:cs typeface="Times New Roman" panose="02020603050405020304" charset="0"/>
              </a:rPr>
              <a:t>RGB-D</a:t>
            </a:r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</a:rPr>
              <a:t>测试图像，所有图像被统一调整为</a:t>
            </a:r>
            <a:r>
              <a:rPr lang="en-US" altLang="zh-CN" sz="2600">
                <a:latin typeface="Times New Roman" panose="02020603050405020304" charset="0"/>
                <a:cs typeface="Times New Roman" panose="02020603050405020304" charset="0"/>
              </a:rPr>
              <a:t>320</a:t>
            </a: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2600">
                <a:latin typeface="Times New Roman" panose="02020603050405020304" charset="0"/>
                <a:cs typeface="Times New Roman" panose="02020603050405020304" charset="0"/>
              </a:rPr>
              <a:t>320</a:t>
            </a:r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</a:rPr>
              <a:t>像素尺寸。</a:t>
            </a:r>
            <a:endParaRPr lang="zh-CN" altLang="en-US" sz="2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647700"/>
            <a:ext cx="12207240" cy="57867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1600" y="788670"/>
            <a:ext cx="11971655" cy="583565"/>
            <a:chOff x="1587" y="1461"/>
            <a:chExt cx="18853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1821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核心网络架构</a:t>
              </a:r>
              <a:r>
                <a:rPr lang="en-US" altLang="zh-CN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——</a:t>
              </a:r>
              <a:r>
                <a:rPr lang="zh-CN" altLang="en-US" sz="32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端到端的轻量级特征分层探索网络</a:t>
              </a:r>
              <a:r>
                <a:rPr lang="en-US" altLang="zh-CN" sz="32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FHENet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</p:grpSp>
      <p:pic>
        <p:nvPicPr>
          <p:cNvPr id="6" name="图片 5"/>
          <p:cNvPicPr/>
          <p:nvPr/>
        </p:nvPicPr>
        <p:blipFill>
          <a:blip r:embed="rId2"/>
          <a:srcRect l="1871" t="4197" r="2395"/>
          <a:stretch>
            <a:fillRect/>
          </a:stretch>
        </p:blipFill>
        <p:spPr>
          <a:xfrm>
            <a:off x="343535" y="1490345"/>
            <a:ext cx="11072495" cy="41598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-14605" y="5688330"/>
            <a:ext cx="12206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rgbClr val="C00000"/>
                </a:solidFill>
              </a:rPr>
              <a:t>多模态、轻量级、双重监督</a:t>
            </a:r>
            <a:r>
              <a:rPr lang="zh-CN" altLang="en-US" sz="3200">
                <a:solidFill>
                  <a:srgbClr val="C00000"/>
                </a:solidFill>
                <a:sym typeface="+mn-ea"/>
              </a:rPr>
              <a:t>、</a:t>
            </a:r>
            <a:r>
              <a:rPr lang="zh-CN" altLang="en-US" sz="3200">
                <a:solidFill>
                  <a:srgbClr val="C00000"/>
                </a:solidFill>
                <a:sym typeface="+mn-ea"/>
              </a:rPr>
              <a:t>实时检测</a:t>
            </a:r>
            <a:endParaRPr lang="zh-CN" altLang="en-US" sz="3200">
              <a:solidFill>
                <a:srgbClr val="C00000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281305"/>
            <a:ext cx="12207240" cy="622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410845"/>
            <a:ext cx="7393305" cy="583565"/>
            <a:chOff x="1587" y="1461"/>
            <a:chExt cx="11643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1100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核心模块</a:t>
              </a:r>
              <a:r>
                <a:rPr lang="en-US" altLang="zh-CN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——BEM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、</a:t>
              </a:r>
              <a:r>
                <a:rPr lang="en-US" altLang="zh-CN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CEM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、</a:t>
              </a:r>
              <a:r>
                <a:rPr lang="en-US" altLang="zh-CN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MIM</a:t>
              </a:r>
              <a:endPara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</p:grpSp>
      <p:pic>
        <p:nvPicPr>
          <p:cNvPr id="6" name="图片 5"/>
          <p:cNvPicPr/>
          <p:nvPr/>
        </p:nvPicPr>
        <p:blipFill>
          <a:blip r:embed="rId2"/>
          <a:srcRect t="4084" r="3692"/>
          <a:stretch>
            <a:fillRect/>
          </a:stretch>
        </p:blipFill>
        <p:spPr>
          <a:xfrm>
            <a:off x="286385" y="1137285"/>
            <a:ext cx="4190365" cy="308737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/>
          <a:srcRect l="3110" t="2556" r="1819"/>
          <a:stretch>
            <a:fillRect/>
          </a:stretch>
        </p:blipFill>
        <p:spPr>
          <a:xfrm>
            <a:off x="4609465" y="1137285"/>
            <a:ext cx="3698240" cy="321754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8307705" y="1136015"/>
            <a:ext cx="3794760" cy="31648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6385" y="4672330"/>
            <a:ext cx="40652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1x1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卷积：通道扩展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跨模态融合（乘法、加法）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多尺度处理：最大池化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+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上采样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+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拼接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09440" y="4596130"/>
            <a:ext cx="406527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Sigmoid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函数：生成自适应注意力权重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交叉加权融合：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RGB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权重与深度特征相乘，深度特征权重与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RGB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特征相乘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487410" y="4575175"/>
            <a:ext cx="340550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特征差分：特征差的绝对值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特征交互：乘法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+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加法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拼接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+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深度可分离卷积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+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残差连接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378460"/>
            <a:ext cx="12207240" cy="61912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461645"/>
            <a:ext cx="6339840" cy="583565"/>
            <a:chOff x="1587" y="1461"/>
            <a:chExt cx="9984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模型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评估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+mn-ea"/>
                <a:sym typeface="+mn-lt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215390"/>
            <a:ext cx="3422015" cy="41446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615" y="1111885"/>
            <a:ext cx="3781425" cy="43529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430" y="1440180"/>
            <a:ext cx="3827145" cy="369633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49555" y="5530850"/>
            <a:ext cx="1168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/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使用了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9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个常用指标，与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14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种最先进的方法进行了比较，结果显示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FHENet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在几乎所有指标上都优于对比方法，同时具有更少的参数和更快的推理速度。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271780"/>
            <a:ext cx="12207240" cy="63519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360045"/>
            <a:ext cx="6339840" cy="521970"/>
            <a:chOff x="1587" y="1461"/>
            <a:chExt cx="9984" cy="822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消融实验</a:t>
              </a:r>
              <a:endPara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+mn-ea"/>
                <a:sym typeface="+mn-lt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340" y="3165475"/>
            <a:ext cx="4432935" cy="24282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8483" t="2956" r="7465" b="15741"/>
          <a:stretch>
            <a:fillRect/>
          </a:stretch>
        </p:blipFill>
        <p:spPr>
          <a:xfrm>
            <a:off x="2091690" y="865505"/>
            <a:ext cx="3894455" cy="23679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2570" y="5690235"/>
            <a:ext cx="116306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/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验证了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BEM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CEM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和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MIM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模块的有效性，结果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显示，移除任一模块都会导致性能下降。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l="7587" t="2517" r="3849"/>
          <a:stretch>
            <a:fillRect/>
          </a:stretch>
        </p:blipFill>
        <p:spPr>
          <a:xfrm>
            <a:off x="6041390" y="840740"/>
            <a:ext cx="3863975" cy="23926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1055" y="3154045"/>
            <a:ext cx="3909695" cy="233934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523875"/>
            <a:ext cx="12207240" cy="6245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1600" y="652145"/>
            <a:ext cx="6339840" cy="583565"/>
            <a:chOff x="1587" y="1461"/>
            <a:chExt cx="9984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代码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部分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68935" y="1274445"/>
            <a:ext cx="7033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MobileNetV2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反向残差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+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线性瓶颈层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+ReLu6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1791970"/>
            <a:ext cx="6224905" cy="29730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295" y="607060"/>
            <a:ext cx="5943600" cy="39573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" y="5193030"/>
            <a:ext cx="7094220" cy="13938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8245" y="3705860"/>
            <a:ext cx="2899410" cy="25622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523875"/>
            <a:ext cx="12207240" cy="58216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1600" y="652145"/>
            <a:ext cx="6339840" cy="583565"/>
            <a:chOff x="1587" y="1461"/>
            <a:chExt cx="9984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代码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部分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" y="1898650"/>
            <a:ext cx="6613525" cy="40589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525" y="2114550"/>
            <a:ext cx="5502275" cy="36658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57505" y="1331595"/>
            <a:ext cx="2544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BEM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模块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523875"/>
            <a:ext cx="12207240" cy="60071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1600" y="652145"/>
            <a:ext cx="6339840" cy="583565"/>
            <a:chOff x="1587" y="1461"/>
            <a:chExt cx="9984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代码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部分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535305" y="1331595"/>
            <a:ext cx="2544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CEM</a:t>
            </a:r>
            <a:r>
              <a:rPr lang="zh-CN" altLang="en-US" sz="2400"/>
              <a:t>模块：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640" y="1350010"/>
            <a:ext cx="7726045" cy="51079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523875"/>
            <a:ext cx="12207240" cy="60598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1600" y="652145"/>
            <a:ext cx="6339840" cy="583565"/>
            <a:chOff x="1587" y="1461"/>
            <a:chExt cx="9984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代码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部分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33705" y="1268095"/>
            <a:ext cx="2544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MIM</a:t>
            </a:r>
            <a:r>
              <a:rPr lang="zh-CN" altLang="en-US" sz="2400"/>
              <a:t>模块：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165" y="1281430"/>
            <a:ext cx="7499350" cy="52444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113665"/>
            <a:ext cx="12207240" cy="64700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1600" y="194945"/>
            <a:ext cx="6339840" cy="521970"/>
            <a:chOff x="1587" y="1461"/>
            <a:chExt cx="9984" cy="822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代码部分</a:t>
              </a:r>
              <a:r>
                <a:rPr lang="en-US" altLang="zh-CN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——Mirror_model</a:t>
              </a:r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类</a:t>
              </a:r>
              <a:endPara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215" y="755015"/>
            <a:ext cx="5840095" cy="5969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09930"/>
            <a:ext cx="3200400" cy="60534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图形"/>
          <p:cNvSpPr txBox="1"/>
          <p:nvPr/>
        </p:nvSpPr>
        <p:spPr>
          <a:xfrm>
            <a:off x="1414145" y="2498090"/>
            <a:ext cx="937069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8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cs typeface="+mn-ea"/>
                <a:sym typeface="+mn-lt"/>
              </a:rPr>
              <a:t>谢谢您的聆听</a:t>
            </a:r>
            <a:endParaRPr kumimoji="0" lang="zh-CN" altLang="en-US" sz="88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139700">
                  <a:schemeClr val="bg1">
                    <a:alpha val="40000"/>
                  </a:schemeClr>
                </a:glow>
              </a:effectLst>
              <a:uLnTx/>
              <a:uFillTx/>
              <a:cs typeface="+mn-ea"/>
              <a:sym typeface="+mn-lt"/>
            </a:endParaRPr>
          </a:p>
        </p:txBody>
      </p:sp>
      <p:sp>
        <p:nvSpPr>
          <p:cNvPr id="12" name="图形"/>
          <p:cNvSpPr/>
          <p:nvPr/>
        </p:nvSpPr>
        <p:spPr>
          <a:xfrm>
            <a:off x="2376170" y="3796030"/>
            <a:ext cx="7446645" cy="657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图形"/>
          <p:cNvSpPr/>
          <p:nvPr/>
        </p:nvSpPr>
        <p:spPr>
          <a:xfrm>
            <a:off x="856615" y="886460"/>
            <a:ext cx="356870" cy="356870"/>
          </a:xfrm>
          <a:prstGeom prst="ellipse">
            <a:avLst/>
          </a:prstGeom>
          <a:gradFill>
            <a:gsLst>
              <a:gs pos="0">
                <a:srgbClr val="E4D178"/>
              </a:gs>
              <a:gs pos="100000">
                <a:srgbClr val="DDC367"/>
              </a:gs>
            </a:gsLst>
            <a:lin ang="2700000" scaled="0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</p:bldLst>
  </p:timing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第一PPT，www.1ppt.com">
  <a:themeElements>
    <a:clrScheme name="自定义 441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DDC367"/>
      </a:accent1>
      <a:accent2>
        <a:srgbClr val="3F3F3F"/>
      </a:accent2>
      <a:accent3>
        <a:srgbClr val="DDC367"/>
      </a:accent3>
      <a:accent4>
        <a:srgbClr val="3F3F3F"/>
      </a:accent4>
      <a:accent5>
        <a:srgbClr val="DDC367"/>
      </a:accent5>
      <a:accent6>
        <a:srgbClr val="3F3F3F"/>
      </a:accent6>
      <a:hlink>
        <a:srgbClr val="DDC367"/>
      </a:hlink>
      <a:folHlink>
        <a:srgbClr val="3F3F3F"/>
      </a:folHlink>
    </a:clrScheme>
    <a:fontScheme name="iolprdsx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思源宋体"/>
        <a:font script="Hebr" typeface="思源宋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宋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思源宋体"/>
        <a:font script="Hebr" typeface="思源宋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宋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WPS 演示</Application>
  <PresentationFormat>宽屏</PresentationFormat>
  <Paragraphs>83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Wingdings</vt:lpstr>
      <vt:lpstr>字魂58号-创中黑</vt:lpstr>
      <vt:lpstr>黑体</vt:lpstr>
      <vt:lpstr>思源宋体</vt:lpstr>
      <vt:lpstr>Arial Unicode MS</vt:lpstr>
      <vt:lpstr>Calibri</vt:lpstr>
      <vt:lpstr>字魂58号-创中黑</vt:lpstr>
      <vt:lpstr>思源宋体</vt:lpstr>
      <vt:lpstr>字魂创中黑</vt:lpstr>
      <vt:lpstr>兰米宋体</vt:lpstr>
      <vt:lpstr>Times New Roman</vt:lpstr>
      <vt:lpstr>华文行楷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廖诗雨</cp:lastModifiedBy>
  <cp:revision>269</cp:revision>
  <dcterms:created xsi:type="dcterms:W3CDTF">2019-06-19T02:08:00Z</dcterms:created>
  <dcterms:modified xsi:type="dcterms:W3CDTF">2026-01-30T12:14:30Z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KSOSaveFontToCloudKey">
    <vt:lpwstr>212913176_cloud</vt:lpwstr>
  </property>
  <property fmtid="{D5CDD505-2E9C-101B-9397-08002B2CF9AE}" pid="4" name="ICV">
    <vt:lpwstr>34A87A8623BA4D7C8FEEAA3B5DA9FDE1</vt:lpwstr>
  </property>
</Properties>
</file>