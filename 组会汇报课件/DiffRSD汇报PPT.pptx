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12"/>
  </p:notesMasterIdLst>
  <p:handoutMasterIdLst>
    <p:handoutMasterId r:id="rId13"/>
  </p:handoutMasterIdLst>
  <p:sldIdLst>
    <p:sldId id="409" r:id="rId4"/>
    <p:sldId id="410" r:id="rId5"/>
    <p:sldId id="439" r:id="rId6"/>
    <p:sldId id="440" r:id="rId7"/>
    <p:sldId id="437" r:id="rId8"/>
    <p:sldId id="450" r:id="rId9"/>
    <p:sldId id="441" r:id="rId10"/>
    <p:sldId id="43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1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C367"/>
    <a:srgbClr val="E4D178"/>
    <a:srgbClr val="DEC569"/>
    <a:srgbClr val="E0C78E"/>
    <a:srgbClr val="D8C76C"/>
    <a:srgbClr val="E4D09C"/>
    <a:srgbClr val="DDBF7E"/>
    <a:srgbClr val="FA90A7"/>
    <a:srgbClr val="DC8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80" y="114"/>
      </p:cViewPr>
      <p:guideLst>
        <p:guide orient="horz" pos="2241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宋体" panose="02020400000000000000" charset="-122"/>
              </a:rPr>
            </a:fld>
            <a:endParaRPr lang="zh-CN" altLang="en-US">
              <a:cs typeface="思源宋体" panose="0202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宋体" panose="02020400000000000000" charset="-122"/>
              </a:rPr>
            </a:fld>
            <a:endParaRPr lang="zh-CN" altLang="en-US">
              <a:cs typeface="思源宋体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工作内容概述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业绩数据展示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工作经验总结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未来工作计划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0" y="6487139"/>
            <a:ext cx="1224136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www.ypppt.com/xiazai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0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图形"/>
          <p:cNvSpPr txBox="1"/>
          <p:nvPr/>
        </p:nvSpPr>
        <p:spPr>
          <a:xfrm>
            <a:off x="410210" y="1939925"/>
            <a:ext cx="1146302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DiffRSD</a:t>
            </a:r>
            <a:r>
              <a:rPr kumimoji="0" lang="zh-CN" altLang="en-US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：</a:t>
            </a: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Diffusion-B</a:t>
            </a: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ased and Integrity-Aware RGB-D Rail Surface Defect Inspection</a:t>
            </a:r>
            <a:endParaRPr kumimoji="0" lang="en-US" altLang="zh-CN" sz="440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bg1">
                    <a:alpha val="40000"/>
                  </a:schemeClr>
                </a:glow>
              </a:effectLst>
              <a:uLnTx/>
              <a:uFillTx/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6615" y="886460"/>
            <a:ext cx="1499870" cy="387985"/>
            <a:chOff x="1349" y="1396"/>
            <a:chExt cx="2362" cy="611"/>
          </a:xfrm>
        </p:grpSpPr>
        <p:sp>
          <p:nvSpPr>
            <p:cNvPr id="46" name="图形"/>
            <p:cNvSpPr/>
            <p:nvPr/>
          </p:nvSpPr>
          <p:spPr>
            <a:xfrm>
              <a:off x="1349" y="1396"/>
              <a:ext cx="562" cy="562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图形"/>
            <p:cNvSpPr txBox="1"/>
            <p:nvPr/>
          </p:nvSpPr>
          <p:spPr>
            <a:xfrm>
              <a:off x="1410" y="1427"/>
              <a:ext cx="23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>
                <a:cs typeface="+mn-ea"/>
                <a:sym typeface="+mn-lt"/>
              </a:endParaRPr>
            </a:p>
          </p:txBody>
        </p:sp>
      </p:grpSp>
      <p:sp>
        <p:nvSpPr>
          <p:cNvPr id="59" name="图形"/>
          <p:cNvSpPr/>
          <p:nvPr/>
        </p:nvSpPr>
        <p:spPr>
          <a:xfrm>
            <a:off x="9670415" y="969645"/>
            <a:ext cx="1233805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 w="63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论文汇报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0860" y="5678170"/>
            <a:ext cx="3023870" cy="306705"/>
            <a:chOff x="1402" y="8942"/>
            <a:chExt cx="4762" cy="483"/>
          </a:xfrm>
        </p:grpSpPr>
        <p:sp>
          <p:nvSpPr>
            <p:cNvPr id="48" name="图形"/>
            <p:cNvSpPr txBox="1"/>
            <p:nvPr/>
          </p:nvSpPr>
          <p:spPr>
            <a:xfrm>
              <a:off x="1752" y="8942"/>
              <a:ext cx="44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汇报时间：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2026.3.6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图形"/>
            <p:cNvSpPr/>
            <p:nvPr/>
          </p:nvSpPr>
          <p:spPr>
            <a:xfrm>
              <a:off x="1402" y="9042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40855" y="5668010"/>
            <a:ext cx="1607820" cy="306705"/>
            <a:chOff x="14360" y="8926"/>
            <a:chExt cx="2532" cy="483"/>
          </a:xfrm>
        </p:grpSpPr>
        <p:sp>
          <p:nvSpPr>
            <p:cNvPr id="49" name="图形"/>
            <p:cNvSpPr txBox="1"/>
            <p:nvPr/>
          </p:nvSpPr>
          <p:spPr>
            <a:xfrm>
              <a:off x="14644" y="8926"/>
              <a:ext cx="22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廖诗雨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图形"/>
            <p:cNvSpPr/>
            <p:nvPr/>
          </p:nvSpPr>
          <p:spPr>
            <a:xfrm>
              <a:off x="14360" y="9038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95350" y="4106545"/>
            <a:ext cx="9958070" cy="398780"/>
            <a:chOff x="1410" y="5207"/>
            <a:chExt cx="15682" cy="628"/>
          </a:xfrm>
        </p:grpSpPr>
        <p:sp>
          <p:nvSpPr>
            <p:cNvPr id="11" name="图形"/>
            <p:cNvSpPr/>
            <p:nvPr/>
          </p:nvSpPr>
          <p:spPr>
            <a:xfrm>
              <a:off x="6214" y="5245"/>
              <a:ext cx="6688" cy="55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592" y="5207"/>
              <a:ext cx="9713" cy="628"/>
              <a:chOff x="4524" y="5128"/>
              <a:chExt cx="9713" cy="628"/>
            </a:xfrm>
          </p:grpSpPr>
          <p:sp>
            <p:nvSpPr>
              <p:cNvPr id="41" name="图形"/>
              <p:cNvSpPr txBox="1"/>
              <p:nvPr/>
            </p:nvSpPr>
            <p:spPr>
              <a:xfrm>
                <a:off x="6405" y="5128"/>
                <a:ext cx="6122" cy="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dist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论文</a:t>
                </a: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学习汇报</a:t>
                </a:r>
                <a:endParaRPr kumimoji="0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cxnSp>
            <p:nvCxnSpPr>
              <p:cNvPr id="42" name="图形"/>
              <p:cNvCxnSpPr/>
              <p:nvPr/>
            </p:nvCxnSpPr>
            <p:spPr>
              <a:xfrm flipH="1">
                <a:off x="4524" y="5499"/>
                <a:ext cx="1211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形"/>
              <p:cNvCxnSpPr/>
              <p:nvPr/>
            </p:nvCxnSpPr>
            <p:spPr>
              <a:xfrm flipH="1">
                <a:off x="13125" y="5444"/>
                <a:ext cx="1112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图形"/>
            <p:cNvGrpSpPr/>
            <p:nvPr/>
          </p:nvGrpSpPr>
          <p:grpSpPr>
            <a:xfrm>
              <a:off x="16892" y="5267"/>
              <a:ext cx="201" cy="341"/>
              <a:chOff x="373626" y="2399071"/>
              <a:chExt cx="235974" cy="393290"/>
            </a:xfrm>
          </p:grpSpPr>
          <p:cxnSp>
            <p:nvCxnSpPr>
              <p:cNvPr id="56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图形"/>
            <p:cNvGrpSpPr/>
            <p:nvPr/>
          </p:nvGrpSpPr>
          <p:grpSpPr>
            <a:xfrm flipH="1">
              <a:off x="1410" y="5267"/>
              <a:ext cx="201" cy="341"/>
              <a:chOff x="373626" y="2399071"/>
              <a:chExt cx="235974" cy="393290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405130"/>
            <a:ext cx="12207240" cy="60236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514350"/>
            <a:ext cx="6339840" cy="645160"/>
            <a:chOff x="1587" y="1461"/>
            <a:chExt cx="9984" cy="1016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研究背景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69875" y="1364615"/>
            <a:ext cx="1021080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latin typeface="Times New Roman" panose="02020603050405020304" charset="0"/>
              </a:rPr>
              <a:t>现有方法局限性：</a:t>
            </a:r>
            <a:endParaRPr lang="zh-CN" altLang="en-US" sz="3200" b="1">
              <a:latin typeface="Times New Roman" panose="02020603050405020304" charset="0"/>
            </a:endParaRPr>
          </a:p>
          <a:p>
            <a:endParaRPr lang="zh-CN" altLang="en-US" sz="3200" b="1">
              <a:latin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69875" y="2216150"/>
            <a:ext cx="11378565" cy="3491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缺陷与周围环境在颜色、纹理上高度相似，传统编码器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解码器难以提取判别性特征，导致缺陷分割不完整。（根本挑战）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传统扩散模型（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DDPM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）一旦在推理阶段产生错误预测，后续阶段难以修正。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 fontAlgn="auto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对缺陷边界细节的刻画不足，无法同时保证缺陷区域的完整性和边界的清晰性。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37185"/>
            <a:ext cx="12207240" cy="6263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83870"/>
            <a:ext cx="11943080" cy="583565"/>
            <a:chOff x="1587" y="1461"/>
            <a:chExt cx="18808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17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论文创新点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699125" y="3253740"/>
            <a:ext cx="6345555" cy="295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针对推理阶段错误无法修正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问题，提出超像素感知的掩码破坏策略（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Superpixel-Aware Corruption strategy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针对无法同时兼顾区域完整性与边界清晰性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问题，提出由粗到细的扩张监督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策略（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Coarse-to-Fine Dilation Supervision strategy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针对缺陷特征与背景难以区分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问题，提出融合条件信息的去噪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U-Net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，通过条件特征融合模块（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CSA+AFF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），提取更具判别力的特征。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" y="1191895"/>
            <a:ext cx="5110480" cy="50215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320" y="709930"/>
            <a:ext cx="6135370" cy="2248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20040"/>
            <a:ext cx="12207240" cy="63792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0490" y="433705"/>
            <a:ext cx="11971655" cy="521970"/>
            <a:chOff x="1587" y="1461"/>
            <a:chExt cx="18853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21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核心网络架构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" y="1019175"/>
            <a:ext cx="6286500" cy="4981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805" y="1099820"/>
            <a:ext cx="4324350" cy="24288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514090"/>
            <a:ext cx="4528820" cy="24866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78460"/>
            <a:ext cx="12207240" cy="6191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616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对比</a:t>
              </a: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实验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49555" y="4260850"/>
            <a:ext cx="11684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buFont typeface="Wingdings" panose="05000000000000000000" charset="0"/>
              <a:buChar char="Ø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与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12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种最新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RGB-D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缺陷检测方法进行了比较，结果显示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DiffRSD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在所有指标上都优于对比方法。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fontAlgn="auto">
              <a:buFont typeface="Wingdings" panose="05000000000000000000" charset="0"/>
              <a:buChar char="Ø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与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DFormer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SAM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等编码器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解码器模型对比，验证了扩散模型的优越性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fontAlgn="auto">
              <a:buFont typeface="Wingdings" panose="05000000000000000000" charset="0"/>
              <a:buChar char="Ø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与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MedSegDiff-v2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CamoDiffusion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等扩散分割模型对比，表现更好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fontAlgn="auto">
              <a:buFont typeface="Wingdings" panose="05000000000000000000" charset="0"/>
              <a:buChar char="Ø"/>
            </a:pP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去除深度模态，发现性能下降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157605"/>
            <a:ext cx="5840730" cy="27425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285" y="544830"/>
            <a:ext cx="5634990" cy="12109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740" y="1816735"/>
            <a:ext cx="5643245" cy="12141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405" y="3065780"/>
            <a:ext cx="6017895" cy="11188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78460"/>
            <a:ext cx="12207240" cy="6191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616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对比</a:t>
              </a: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实验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2157"/>
          <a:stretch>
            <a:fillRect/>
          </a:stretch>
        </p:blipFill>
        <p:spPr>
          <a:xfrm>
            <a:off x="4095750" y="575310"/>
            <a:ext cx="7753985" cy="58477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2124" t="1786" r="3099"/>
          <a:stretch>
            <a:fillRect/>
          </a:stretch>
        </p:blipFill>
        <p:spPr>
          <a:xfrm>
            <a:off x="281940" y="1786255"/>
            <a:ext cx="3696970" cy="31121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271780"/>
            <a:ext cx="12207240" cy="63519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26860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消融实验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" y="1076325"/>
            <a:ext cx="6038850" cy="12274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1418" t="6255"/>
          <a:stretch>
            <a:fillRect/>
          </a:stretch>
        </p:blipFill>
        <p:spPr>
          <a:xfrm>
            <a:off x="4184650" y="2406015"/>
            <a:ext cx="8027035" cy="14211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" y="2303780"/>
            <a:ext cx="4027170" cy="27133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910" y="1129665"/>
            <a:ext cx="5430520" cy="9372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650" y="4061460"/>
            <a:ext cx="5076190" cy="11823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845" y="5017135"/>
            <a:ext cx="3683000" cy="14370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139565" y="5507355"/>
            <a:ext cx="7858760" cy="1312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DiffRSD</a:t>
            </a:r>
            <a:r>
              <a:rPr lang="zh-CN" altLang="en-US" sz="2000"/>
              <a:t>通过扩散模型和完整性感知策略显著提升了缺陷检测的精度，但是其推理速度仍受限于扩散模型的迭代采样过程，需要平衡精度与实时性。（轻量级扩散架构</a:t>
            </a:r>
            <a:r>
              <a:rPr lang="en-US" altLang="zh-CN" sz="2000"/>
              <a:t>/</a:t>
            </a:r>
            <a:r>
              <a:rPr lang="zh-CN" altLang="en-US" sz="2000"/>
              <a:t>加速采样</a:t>
            </a:r>
            <a:r>
              <a:rPr lang="en-US" altLang="zh-CN" sz="2000"/>
              <a:t>)</a:t>
            </a:r>
            <a:endParaRPr lang="zh-CN" altLang="en-US" sz="2400"/>
          </a:p>
          <a:p>
            <a:endParaRPr lang="zh-CN" altLang="en-US" sz="2400"/>
          </a:p>
        </p:txBody>
      </p:sp>
    </p:spTree>
    <p:custDataLst>
      <p:tags r:id="rId8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图形"/>
          <p:cNvSpPr txBox="1"/>
          <p:nvPr/>
        </p:nvSpPr>
        <p:spPr>
          <a:xfrm>
            <a:off x="1414145" y="2498090"/>
            <a:ext cx="93706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cs typeface="+mn-ea"/>
                <a:sym typeface="+mn-lt"/>
              </a:rPr>
              <a:t>谢谢您的聆听</a:t>
            </a:r>
            <a:endParaRPr kumimoji="0" lang="zh-CN" altLang="en-US" sz="8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bg1">
                    <a:alpha val="40000"/>
                  </a:schemeClr>
                </a:glo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12" name="图形"/>
          <p:cNvSpPr/>
          <p:nvPr/>
        </p:nvSpPr>
        <p:spPr>
          <a:xfrm>
            <a:off x="2376170" y="3796030"/>
            <a:ext cx="7446645" cy="657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图形"/>
          <p:cNvSpPr/>
          <p:nvPr/>
        </p:nvSpPr>
        <p:spPr>
          <a:xfrm>
            <a:off x="856615" y="886460"/>
            <a:ext cx="356870" cy="356870"/>
          </a:xfrm>
          <a:prstGeom prst="ellipse">
            <a:avLst/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DIAGRAM_VIRTUALLY_FRAME" val="{&quot;height&quot;:388.15,&quot;left&quot;:13.1,&quot;top&quot;:97.4,&quot;width&quot;:928.35}"/>
</p:tagLst>
</file>

<file path=ppt/tags/tag4.xml><?xml version="1.0" encoding="utf-8"?>
<p:tagLst xmlns:p="http://schemas.openxmlformats.org/presentationml/2006/main">
  <p:tag name="KSO_WM_DIAGRAM_VIRTUALLY_FRAME" val="{&quot;height&quot;:388.15,&quot;left&quot;:13.1,&quot;top&quot;:97.4,&quot;width&quot;:928.35}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自定义 441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DDC367"/>
      </a:accent1>
      <a:accent2>
        <a:srgbClr val="3F3F3F"/>
      </a:accent2>
      <a:accent3>
        <a:srgbClr val="DDC367"/>
      </a:accent3>
      <a:accent4>
        <a:srgbClr val="3F3F3F"/>
      </a:accent4>
      <a:accent5>
        <a:srgbClr val="DDC367"/>
      </a:accent5>
      <a:accent6>
        <a:srgbClr val="3F3F3F"/>
      </a:accent6>
      <a:hlink>
        <a:srgbClr val="DDC367"/>
      </a:hlink>
      <a:folHlink>
        <a:srgbClr val="3F3F3F"/>
      </a:folHlink>
    </a:clrScheme>
    <a:fontScheme name="iolprds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演示</Application>
  <PresentationFormat>宽屏</PresentationFormat>
  <Paragraphs>46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Wingdings</vt:lpstr>
      <vt:lpstr>字魂58号-创中黑</vt:lpstr>
      <vt:lpstr>黑体</vt:lpstr>
      <vt:lpstr>思源宋体</vt:lpstr>
      <vt:lpstr>Times New Roman</vt:lpstr>
      <vt:lpstr>Arial Unicode MS</vt:lpstr>
      <vt:lpstr>Calibri</vt:lpstr>
      <vt:lpstr>字魂58号-创中黑</vt:lpstr>
      <vt:lpstr>思源宋体</vt:lpstr>
      <vt:lpstr>字魂创中黑</vt:lpstr>
      <vt:lpstr>方正颜宋体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廖诗雨</cp:lastModifiedBy>
  <cp:revision>271</cp:revision>
  <dcterms:created xsi:type="dcterms:W3CDTF">2019-06-19T02:08:00Z</dcterms:created>
  <dcterms:modified xsi:type="dcterms:W3CDTF">2026-03-06T05:25:40Z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