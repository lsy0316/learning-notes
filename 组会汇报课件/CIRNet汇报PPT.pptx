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13"/>
  </p:notesMasterIdLst>
  <p:handoutMasterIdLst>
    <p:handoutMasterId r:id="rId14"/>
  </p:handoutMasterIdLst>
  <p:sldIdLst>
    <p:sldId id="409" r:id="rId3"/>
    <p:sldId id="410" r:id="rId4"/>
    <p:sldId id="439" r:id="rId5"/>
    <p:sldId id="440" r:id="rId6"/>
    <p:sldId id="451" r:id="rId7"/>
    <p:sldId id="454" r:id="rId8"/>
    <p:sldId id="437" r:id="rId9"/>
    <p:sldId id="450" r:id="rId10"/>
    <p:sldId id="453" r:id="rId11"/>
    <p:sldId id="43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C367"/>
    <a:srgbClr val="E4D178"/>
    <a:srgbClr val="DEC569"/>
    <a:srgbClr val="E0C78E"/>
    <a:srgbClr val="D8C76C"/>
    <a:srgbClr val="E4D09C"/>
    <a:srgbClr val="DDBF7E"/>
    <a:srgbClr val="FA90A7"/>
    <a:srgbClr val="DC8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6314" autoAdjust="0"/>
  </p:normalViewPr>
  <p:slideViewPr>
    <p:cSldViewPr snapToGrid="0" showGuides="1">
      <p:cViewPr>
        <p:scale>
          <a:sx n="100" d="100"/>
          <a:sy n="100" d="100"/>
        </p:scale>
        <p:origin x="-115" y="-413"/>
      </p:cViewPr>
      <p:guideLst>
        <p:guide orient="horz" pos="2188"/>
        <p:guide pos="3835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宋体" panose="02020400000000000000" charset="-122"/>
              </a:rPr>
              <a:t>2026/3/12</a:t>
            </a:fld>
            <a:endParaRPr lang="zh-CN" altLang="en-US">
              <a:cs typeface="思源宋体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宋体" panose="02020400000000000000" charset="-122"/>
              </a:rPr>
              <a:t>‹#›</a:t>
            </a:fld>
            <a:endParaRPr lang="zh-CN" altLang="en-US">
              <a:cs typeface="思源宋体" panose="0202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06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77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工作内容概述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业绩数据展示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工作经验总结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未来工作计划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0" y="6487139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http://www.ypppt.com/xiazai/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advTm="2000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2026/3/12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2026/3/12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图形"/>
          <p:cNvSpPr txBox="1"/>
          <p:nvPr/>
        </p:nvSpPr>
        <p:spPr>
          <a:xfrm>
            <a:off x="410210" y="1939925"/>
            <a:ext cx="1146302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CIR-Net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：</a:t>
            </a: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Cross-Modality Interaction and Refinement for RGB-D Salient Object Detection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56615" y="886460"/>
            <a:ext cx="1499870" cy="387985"/>
            <a:chOff x="1349" y="1396"/>
            <a:chExt cx="2362" cy="611"/>
          </a:xfrm>
        </p:grpSpPr>
        <p:sp>
          <p:nvSpPr>
            <p:cNvPr id="46" name="图形"/>
            <p:cNvSpPr/>
            <p:nvPr/>
          </p:nvSpPr>
          <p:spPr>
            <a:xfrm>
              <a:off x="1349" y="1396"/>
              <a:ext cx="562" cy="562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图形"/>
            <p:cNvSpPr txBox="1"/>
            <p:nvPr/>
          </p:nvSpPr>
          <p:spPr>
            <a:xfrm>
              <a:off x="1410" y="1427"/>
              <a:ext cx="2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cs typeface="+mn-ea"/>
                <a:sym typeface="+mn-lt"/>
              </a:endParaRPr>
            </a:p>
          </p:txBody>
        </p:sp>
      </p:grpSp>
      <p:sp>
        <p:nvSpPr>
          <p:cNvPr id="59" name="图形"/>
          <p:cNvSpPr/>
          <p:nvPr/>
        </p:nvSpPr>
        <p:spPr>
          <a:xfrm>
            <a:off x="9670415" y="969645"/>
            <a:ext cx="1233805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 w="63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论文汇报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070860" y="5678170"/>
            <a:ext cx="3023870" cy="306705"/>
            <a:chOff x="1402" y="8942"/>
            <a:chExt cx="4762" cy="483"/>
          </a:xfrm>
        </p:grpSpPr>
        <p:sp>
          <p:nvSpPr>
            <p:cNvPr id="48" name="图形"/>
            <p:cNvSpPr txBox="1"/>
            <p:nvPr/>
          </p:nvSpPr>
          <p:spPr>
            <a:xfrm>
              <a:off x="1752" y="8942"/>
              <a:ext cx="44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2026.3.15</a:t>
              </a:r>
            </a:p>
          </p:txBody>
        </p:sp>
        <p:sp>
          <p:nvSpPr>
            <p:cNvPr id="8" name="图形"/>
            <p:cNvSpPr/>
            <p:nvPr/>
          </p:nvSpPr>
          <p:spPr>
            <a:xfrm>
              <a:off x="1402" y="9042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40855" y="5668010"/>
            <a:ext cx="1607820" cy="306705"/>
            <a:chOff x="14360" y="8926"/>
            <a:chExt cx="2532" cy="483"/>
          </a:xfrm>
        </p:grpSpPr>
        <p:sp>
          <p:nvSpPr>
            <p:cNvPr id="49" name="图形"/>
            <p:cNvSpPr txBox="1"/>
            <p:nvPr/>
          </p:nvSpPr>
          <p:spPr>
            <a:xfrm>
              <a:off x="14644" y="8926"/>
              <a:ext cx="22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汇报人：廖诗雨</a:t>
              </a:r>
            </a:p>
          </p:txBody>
        </p:sp>
        <p:sp>
          <p:nvSpPr>
            <p:cNvPr id="10" name="图形"/>
            <p:cNvSpPr/>
            <p:nvPr/>
          </p:nvSpPr>
          <p:spPr>
            <a:xfrm>
              <a:off x="14360" y="9038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95350" y="4106545"/>
            <a:ext cx="9958070" cy="398780"/>
            <a:chOff x="1410" y="5207"/>
            <a:chExt cx="15682" cy="628"/>
          </a:xfrm>
        </p:grpSpPr>
        <p:sp>
          <p:nvSpPr>
            <p:cNvPr id="11" name="图形"/>
            <p:cNvSpPr/>
            <p:nvPr/>
          </p:nvSpPr>
          <p:spPr>
            <a:xfrm>
              <a:off x="6214" y="5245"/>
              <a:ext cx="6688" cy="55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92" y="5207"/>
              <a:ext cx="9713" cy="628"/>
              <a:chOff x="4524" y="5128"/>
              <a:chExt cx="9713" cy="628"/>
            </a:xfrm>
          </p:grpSpPr>
          <p:sp>
            <p:nvSpPr>
              <p:cNvPr id="41" name="图形"/>
              <p:cNvSpPr txBox="1"/>
              <p:nvPr/>
            </p:nvSpPr>
            <p:spPr>
              <a:xfrm>
                <a:off x="6405" y="5128"/>
                <a:ext cx="6122" cy="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论文学习汇报</a:t>
                </a:r>
              </a:p>
            </p:txBody>
          </p:sp>
          <p:cxnSp>
            <p:nvCxnSpPr>
              <p:cNvPr id="42" name="图形"/>
              <p:cNvCxnSpPr/>
              <p:nvPr/>
            </p:nvCxnSpPr>
            <p:spPr>
              <a:xfrm flipH="1">
                <a:off x="4524" y="5499"/>
                <a:ext cx="1211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形"/>
              <p:cNvCxnSpPr/>
              <p:nvPr/>
            </p:nvCxnSpPr>
            <p:spPr>
              <a:xfrm flipH="1">
                <a:off x="13125" y="5444"/>
                <a:ext cx="1112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图形"/>
            <p:cNvGrpSpPr/>
            <p:nvPr/>
          </p:nvGrpSpPr>
          <p:grpSpPr>
            <a:xfrm>
              <a:off x="16892" y="5267"/>
              <a:ext cx="201" cy="341"/>
              <a:chOff x="373626" y="2399071"/>
              <a:chExt cx="235974" cy="393290"/>
            </a:xfrm>
          </p:grpSpPr>
          <p:cxnSp>
            <p:nvCxnSpPr>
              <p:cNvPr id="56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图形"/>
            <p:cNvGrpSpPr/>
            <p:nvPr/>
          </p:nvGrpSpPr>
          <p:grpSpPr>
            <a:xfrm flipH="1">
              <a:off x="1410" y="5267"/>
              <a:ext cx="201" cy="341"/>
              <a:chOff x="373626" y="2399071"/>
              <a:chExt cx="235974" cy="393290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5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405130"/>
            <a:ext cx="12207240" cy="60236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514350"/>
            <a:ext cx="6339840" cy="645160"/>
            <a:chOff x="1587" y="1461"/>
            <a:chExt cx="9984" cy="1016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研究背景</a:t>
              </a:r>
            </a:p>
          </p:txBody>
        </p:sp>
      </p:grp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69875" y="1364615"/>
            <a:ext cx="1021080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latin typeface="Times New Roman" panose="02020603050405020304" charset="0"/>
              </a:rPr>
              <a:t>现有方法局限性：</a:t>
            </a:r>
          </a:p>
          <a:p>
            <a:endParaRPr lang="zh-CN" altLang="en-US" sz="3200" b="1">
              <a:latin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69875" y="2216150"/>
            <a:ext cx="1137856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单流模型：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将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与深度简单拼接成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通道输入，忽略了模态之间的差异，且缺乏跨模态信息交互，容易受低质量深度图影响。</a:t>
            </a:r>
          </a:p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双流模型：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独立的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和深度分支处理信息，交互仅仅在编码器或者解码器阶段。对于低质量深度图和复杂的背景不够鲁棒，容易产生错误边界或者缺陷遗漏</a:t>
            </a:r>
            <a:endParaRPr lang="en-US" altLang="zh-CN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三流模型：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尝试引入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RGB-D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支路，但通常从零学习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RGB-D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特征，计算量较大，缺乏有效的跨模态注意力机制。</a:t>
            </a:r>
            <a:endParaRPr lang="en-US" altLang="zh-CN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endParaRPr lang="zh-CN" altLang="en-US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4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37185"/>
            <a:ext cx="12207240" cy="6410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83870"/>
            <a:ext cx="11943080" cy="583565"/>
            <a:chOff x="1587" y="1461"/>
            <a:chExt cx="18808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1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论文创新点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40715" y="4225620"/>
            <a:ext cx="10870565" cy="2120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针对跨模态融合不充分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问题，提出三流编码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解码架构、渐进注意力引导融合单元（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PAI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）和重要性门控融合单元（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IGF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），在编码器和解码器同时进行跨模态交互，动态选择最有价值的信息。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针对编码器特征冗余，全局上下文缺失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问题，提出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在编码器和解码器之间插入细化中间件，包含自模态注意力细化（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smAR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）和跨模态加权细化（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cmWR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），分别抑制噪声和捕获长程依赖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针对深度图质量不可靠时鲁棒性不够的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问题，通过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cmWR</a:t>
            </a:r>
            <a:r>
              <a:rPr lang="zh-CN" altLang="en-US" sz="2000" dirty="0"/>
              <a:t>中的可学习权重自动调节不同模态的贡献，来降低低质量深度图的负面影响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334" y="999427"/>
            <a:ext cx="6251489" cy="31849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20040"/>
            <a:ext cx="12207240" cy="637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0490" y="433705"/>
            <a:ext cx="11971655" cy="521970"/>
            <a:chOff x="1587" y="1461"/>
            <a:chExt cx="18853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21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4117"/>
          <a:stretch>
            <a:fillRect/>
          </a:stretch>
        </p:blipFill>
        <p:spPr>
          <a:xfrm>
            <a:off x="681647" y="961363"/>
            <a:ext cx="10331308" cy="45849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6A641B-FC8F-EB5D-1A7C-A5575DA7E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47" y="5729502"/>
            <a:ext cx="4344006" cy="6477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62184E-5E17-EF9D-E298-FF5A5E3CA7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285" y="5546357"/>
            <a:ext cx="3947172" cy="120369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20040"/>
            <a:ext cx="12207240" cy="637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0490" y="433705"/>
            <a:ext cx="11971655" cy="521970"/>
            <a:chOff x="1587" y="1461"/>
            <a:chExt cx="18853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21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" y="1052195"/>
            <a:ext cx="4991100" cy="3533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90" y="4585970"/>
            <a:ext cx="5029200" cy="600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0" y="5410835"/>
            <a:ext cx="5086350" cy="638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145" y="977900"/>
            <a:ext cx="6477000" cy="36595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rcRect l="7154" t="6897" r="5023" b="4828"/>
          <a:stretch>
            <a:fillRect/>
          </a:stretch>
        </p:blipFill>
        <p:spPr>
          <a:xfrm>
            <a:off x="5796280" y="4904105"/>
            <a:ext cx="1831975" cy="14630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rcRect t="-6537" r="7152"/>
          <a:stretch>
            <a:fillRect/>
          </a:stretch>
        </p:blipFill>
        <p:spPr>
          <a:xfrm>
            <a:off x="7778115" y="5797550"/>
            <a:ext cx="4328795" cy="4940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8445" y="4904105"/>
            <a:ext cx="3680460" cy="6705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753A-238A-6A0D-499D-023BFC60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>
            <a:extLst>
              <a:ext uri="{FF2B5EF4-FFF2-40B4-BE49-F238E27FC236}">
                <a16:creationId xmlns:a16="http://schemas.microsoft.com/office/drawing/2014/main" id="{B159622A-EBE0-C252-C0F3-F61439AC30F2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>
            <a:extLst>
              <a:ext uri="{FF2B5EF4-FFF2-40B4-BE49-F238E27FC236}">
                <a16:creationId xmlns:a16="http://schemas.microsoft.com/office/drawing/2014/main" id="{E675DB29-DB9D-006B-D715-DFC39E466FF6}"/>
              </a:ext>
            </a:extLst>
          </p:cNvPr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DA3E22-6A16-CCD8-7064-5E7993FA2A66}"/>
              </a:ext>
            </a:extLst>
          </p:cNvPr>
          <p:cNvSpPr/>
          <p:nvPr/>
        </p:nvSpPr>
        <p:spPr>
          <a:xfrm>
            <a:off x="-14605" y="320040"/>
            <a:ext cx="12207240" cy="637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7BE615B-7FDC-FFEC-A6A3-1C6C6AC3C821}"/>
              </a:ext>
            </a:extLst>
          </p:cNvPr>
          <p:cNvGrpSpPr/>
          <p:nvPr/>
        </p:nvGrpSpPr>
        <p:grpSpPr>
          <a:xfrm>
            <a:off x="110490" y="433705"/>
            <a:ext cx="11971655" cy="521970"/>
            <a:chOff x="1587" y="1461"/>
            <a:chExt cx="18853" cy="822"/>
          </a:xfrm>
        </p:grpSpPr>
        <p:sp>
          <p:nvSpPr>
            <p:cNvPr id="22" name="图形">
              <a:extLst>
                <a:ext uri="{FF2B5EF4-FFF2-40B4-BE49-F238E27FC236}">
                  <a16:creationId xmlns:a16="http://schemas.microsoft.com/office/drawing/2014/main" id="{73C03FE0-2B55-B37E-77DC-89936A121B4F}"/>
                </a:ext>
              </a:extLst>
            </p:cNvPr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>
              <a:extLst>
                <a:ext uri="{FF2B5EF4-FFF2-40B4-BE49-F238E27FC236}">
                  <a16:creationId xmlns:a16="http://schemas.microsoft.com/office/drawing/2014/main" id="{FFC82E83-6CC1-4B17-643F-E213D6DD7C5E}"/>
                </a:ext>
              </a:extLst>
            </p:cNvPr>
            <p:cNvSpPr txBox="1"/>
            <p:nvPr/>
          </p:nvSpPr>
          <p:spPr>
            <a:xfrm>
              <a:off x="2225" y="1461"/>
              <a:ext cx="1821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7B261FED-2263-B081-E13F-CFBE9DAFA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" y="1152525"/>
            <a:ext cx="6077798" cy="400105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03ED7B-7430-EE70-22B8-F312EB7F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068" y="2287869"/>
            <a:ext cx="5103917" cy="51442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7A7B1EF-5084-903A-2FD3-344A34126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068" y="3113087"/>
            <a:ext cx="4695825" cy="476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7908148"/>
      </p:ext>
    </p:ext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4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模型评估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31140" y="5473700"/>
            <a:ext cx="1168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buFont typeface="Wingdings" panose="05000000000000000000" charset="0"/>
              <a:buChar char="Ø"/>
            </a:pP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与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15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种近年的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CNN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显著目标检测方法进行了比较，结果显示除了在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SIP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数据集上的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MAE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2800" dirty="0" err="1">
                <a:latin typeface="Times New Roman" panose="02020603050405020304" charset="0"/>
                <a:cs typeface="Times New Roman" panose="02020603050405020304" charset="0"/>
              </a:rPr>
              <a:t>CIRNet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都优于对比方法。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" y="1088390"/>
            <a:ext cx="10049510" cy="42811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模型评估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4BBC7F3-0E90-1DD8-54B9-E8F00EF51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749" y="779807"/>
            <a:ext cx="8775362" cy="570812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4DF2-773E-CEFD-4B6A-5CA0DAA1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>
            <a:extLst>
              <a:ext uri="{FF2B5EF4-FFF2-40B4-BE49-F238E27FC236}">
                <a16:creationId xmlns:a16="http://schemas.microsoft.com/office/drawing/2014/main" id="{341959D4-3B2A-A862-B7B0-FE90855ED5BB}"/>
              </a:ext>
            </a:extLst>
          </p:cNvPr>
          <p:cNvPicPr>
            <a:picLocks noChangeAspect="1"/>
          </p:cNvPicPr>
          <p:nvPr/>
        </p:nvPicPr>
        <p:blipFill>
          <a:blip r:embed="rId4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>
            <a:extLst>
              <a:ext uri="{FF2B5EF4-FFF2-40B4-BE49-F238E27FC236}">
                <a16:creationId xmlns:a16="http://schemas.microsoft.com/office/drawing/2014/main" id="{77BABE9A-5497-D6E3-3BA6-FEC2BDB86630}"/>
              </a:ext>
            </a:extLst>
          </p:cNvPr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D28780-B824-9A37-5B20-958D426289AC}"/>
              </a:ext>
            </a:extLst>
          </p:cNvPr>
          <p:cNvSpPr/>
          <p:nvPr/>
        </p:nvSpPr>
        <p:spPr>
          <a:xfrm>
            <a:off x="-14605" y="378460"/>
            <a:ext cx="12207240" cy="64846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814ADA-92D2-7708-5B8D-8917A08C6C0B}"/>
              </a:ext>
            </a:extLst>
          </p:cNvPr>
          <p:cNvGrpSpPr/>
          <p:nvPr/>
        </p:nvGrpSpPr>
        <p:grpSpPr>
          <a:xfrm>
            <a:off x="101600" y="461645"/>
            <a:ext cx="6339840" cy="521970"/>
            <a:chOff x="1587" y="1461"/>
            <a:chExt cx="9984" cy="822"/>
          </a:xfrm>
        </p:grpSpPr>
        <p:sp>
          <p:nvSpPr>
            <p:cNvPr id="22" name="图形">
              <a:extLst>
                <a:ext uri="{FF2B5EF4-FFF2-40B4-BE49-F238E27FC236}">
                  <a16:creationId xmlns:a16="http://schemas.microsoft.com/office/drawing/2014/main" id="{9D42204F-A12B-7D97-E2BB-D4FE1ED00951}"/>
                </a:ext>
              </a:extLst>
            </p:cNvPr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>
              <a:extLst>
                <a:ext uri="{FF2B5EF4-FFF2-40B4-BE49-F238E27FC236}">
                  <a16:creationId xmlns:a16="http://schemas.microsoft.com/office/drawing/2014/main" id="{53F0D712-134F-45FE-E410-F7E8837C8EB5}"/>
                </a:ext>
              </a:extLst>
            </p:cNvPr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想法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8EC1592-773D-8483-44E8-7266F0166826}"/>
              </a:ext>
            </a:extLst>
          </p:cNvPr>
          <p:cNvSpPr txBox="1"/>
          <p:nvPr/>
        </p:nvSpPr>
        <p:spPr>
          <a:xfrm>
            <a:off x="625059" y="1461999"/>
            <a:ext cx="105071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深度图质量不可靠：</a:t>
            </a:r>
            <a:r>
              <a:rPr lang="zh-CN" altLang="en-US" sz="2400" dirty="0"/>
              <a:t>户外强光、远距离、复杂反射导致深度图包含大量噪声与空洞，直接融合会污染特征。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缺陷形态多样：</a:t>
            </a:r>
            <a:r>
              <a:rPr lang="zh-CN" altLang="en-US" sz="2400" dirty="0"/>
              <a:t>裂纹、剥落等缺陷细长且与背景对比度低，需要全局上下文理解与精细的边界定位。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多模态融合不充分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F6407C-C5DB-5BB0-E47F-70C7CCB95AAF}"/>
              </a:ext>
            </a:extLst>
          </p:cNvPr>
          <p:cNvSpPr txBox="1"/>
          <p:nvPr/>
        </p:nvSpPr>
        <p:spPr>
          <a:xfrm>
            <a:off x="717630" y="966219"/>
            <a:ext cx="560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针对目前的缺陷检测任务问题：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9F0744-69F3-738F-EEE8-7406730A3B7E}"/>
              </a:ext>
            </a:extLst>
          </p:cNvPr>
          <p:cNvSpPr txBox="1"/>
          <p:nvPr/>
        </p:nvSpPr>
        <p:spPr>
          <a:xfrm>
            <a:off x="850895" y="3715089"/>
            <a:ext cx="850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频域特征筛选</a:t>
            </a:r>
            <a:r>
              <a:rPr lang="en-US" altLang="zh-CN" sz="2400" b="1" dirty="0"/>
              <a:t>+Mamba+</a:t>
            </a:r>
            <a:r>
              <a:rPr lang="zh-CN" altLang="en-US" sz="2400" b="1" dirty="0"/>
              <a:t>三流模型：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E44E88-E53C-49AE-8327-A357B8945E40}"/>
              </a:ext>
            </a:extLst>
          </p:cNvPr>
          <p:cNvSpPr txBox="1"/>
          <p:nvPr/>
        </p:nvSpPr>
        <p:spPr>
          <a:xfrm>
            <a:off x="717630" y="4176754"/>
            <a:ext cx="1099340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针对深度图质量不可靠问题，设计一个频域特征筛选与增强模块：先通过轻量</a:t>
            </a:r>
            <a:r>
              <a:rPr lang="en-US" altLang="zh-CN" sz="2000" dirty="0"/>
              <a:t>CNN</a:t>
            </a:r>
            <a:r>
              <a:rPr lang="zh-CN" altLang="en-US" sz="2000" dirty="0"/>
              <a:t>提取</a:t>
            </a:r>
            <a:r>
              <a:rPr lang="en-US" altLang="zh-CN" sz="2000" dirty="0"/>
              <a:t>RGB</a:t>
            </a:r>
            <a:r>
              <a:rPr lang="zh-CN" altLang="en-US" sz="2000" dirty="0"/>
              <a:t>和深度图像浅层的特征，然后进行多尺度频域分解和融合，将特征分解为低频（结构）和高频（细节）两部分，分别处理后再融合，然后就是引入可学习频域滤波器，自适应的抑制深度噪声。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针对问题</a:t>
            </a:r>
            <a:r>
              <a:rPr lang="en-US" altLang="zh-CN" sz="2000" dirty="0"/>
              <a:t>2</a:t>
            </a:r>
            <a:r>
              <a:rPr lang="zh-CN" altLang="en-US" sz="2000" dirty="0"/>
              <a:t>和</a:t>
            </a:r>
            <a:r>
              <a:rPr lang="en-US" altLang="zh-CN" sz="2000" dirty="0"/>
              <a:t>3</a:t>
            </a:r>
            <a:r>
              <a:rPr lang="zh-CN" altLang="en-US" sz="2000" dirty="0"/>
              <a:t>，能不能基于</a:t>
            </a:r>
            <a:r>
              <a:rPr lang="en-US" altLang="zh-CN" sz="2000" dirty="0" err="1"/>
              <a:t>Vmamba</a:t>
            </a:r>
            <a:r>
              <a:rPr lang="zh-CN" altLang="en-US" sz="2000" dirty="0"/>
              <a:t>的</a:t>
            </a:r>
            <a:r>
              <a:rPr lang="en-US" altLang="zh-CN" sz="2000" dirty="0"/>
              <a:t>SS2D</a:t>
            </a:r>
            <a:r>
              <a:rPr lang="zh-CN" altLang="en-US" sz="2000" dirty="0"/>
              <a:t>模块设计一个方向感知的三流</a:t>
            </a:r>
            <a:r>
              <a:rPr lang="en-US" altLang="zh-CN" sz="2000" dirty="0"/>
              <a:t>Mamba</a:t>
            </a:r>
            <a:r>
              <a:rPr lang="zh-CN" altLang="en-US" sz="2000" dirty="0"/>
              <a:t>编码器，在</a:t>
            </a:r>
            <a:r>
              <a:rPr lang="en-US" altLang="zh-CN" sz="2000" dirty="0"/>
              <a:t>SS2D</a:t>
            </a:r>
            <a:r>
              <a:rPr lang="zh-CN" altLang="en-US" sz="2000" dirty="0"/>
              <a:t>的四个扫描方向上，分别计算</a:t>
            </a:r>
            <a:r>
              <a:rPr lang="en-US" altLang="zh-CN" sz="2000" dirty="0"/>
              <a:t>RGB</a:t>
            </a:r>
            <a:r>
              <a:rPr lang="zh-CN" altLang="en-US" sz="2000" dirty="0"/>
              <a:t>与深度特征在该方向上的相关性，并动态融合到融合流中。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6828129"/>
      </p:ext>
    </p:ext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"/>
          <p:cNvPicPr>
            <a:picLocks noChangeAspect="1"/>
          </p:cNvPicPr>
          <p:nvPr/>
        </p:nvPicPr>
        <p:blipFill>
          <a:blip r:embed="rId3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1414145" y="2498090"/>
            <a:ext cx="9370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cs typeface="+mn-ea"/>
                <a:sym typeface="+mn-lt"/>
              </a:rPr>
              <a:t>谢谢您的聆听</a:t>
            </a:r>
          </a:p>
        </p:txBody>
      </p:sp>
      <p:sp>
        <p:nvSpPr>
          <p:cNvPr id="12" name="图形"/>
          <p:cNvSpPr/>
          <p:nvPr/>
        </p:nvSpPr>
        <p:spPr>
          <a:xfrm>
            <a:off x="2376170" y="3796030"/>
            <a:ext cx="7446645" cy="657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图形"/>
          <p:cNvSpPr/>
          <p:nvPr/>
        </p:nvSpPr>
        <p:spPr>
          <a:xfrm>
            <a:off x="856615" y="886460"/>
            <a:ext cx="356870" cy="356870"/>
          </a:xfrm>
          <a:prstGeom prst="ellipse">
            <a:avLst/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15,&quot;left&quot;:13.1,&quot;top&quot;:97.4,&quot;width&quot;:928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15,&quot;left&quot;:13.1,&quot;top&quot;:97.4,&quot;width&quot;:928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自定义 441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DDC367"/>
      </a:accent1>
      <a:accent2>
        <a:srgbClr val="3F3F3F"/>
      </a:accent2>
      <a:accent3>
        <a:srgbClr val="DDC367"/>
      </a:accent3>
      <a:accent4>
        <a:srgbClr val="3F3F3F"/>
      </a:accent4>
      <a:accent5>
        <a:srgbClr val="DDC367"/>
      </a:accent5>
      <a:accent6>
        <a:srgbClr val="3F3F3F"/>
      </a:accent6>
      <a:hlink>
        <a:srgbClr val="DDC367"/>
      </a:hlink>
      <a:folHlink>
        <a:srgbClr val="3F3F3F"/>
      </a:folHlink>
    </a:clrScheme>
    <a:fontScheme name="iolprds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5718</TotalTime>
  <Words>555</Words>
  <Application>Microsoft Office PowerPoint</Application>
  <PresentationFormat>宽屏</PresentationFormat>
  <Paragraphs>32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思源宋体</vt:lpstr>
      <vt:lpstr>微软雅黑</vt:lpstr>
      <vt:lpstr>字魂58号-创中黑</vt:lpstr>
      <vt:lpstr>Arial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cp:lastModifiedBy>诗雨 廖</cp:lastModifiedBy>
  <cp:revision>273</cp:revision>
  <dcterms:created xsi:type="dcterms:W3CDTF">2019-06-19T02:08:00Z</dcterms:created>
  <dcterms:modified xsi:type="dcterms:W3CDTF">2026-03-16T01:49:30Z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